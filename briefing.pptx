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b6251063e94afb" /><Relationship Type="http://schemas.openxmlformats.org/officeDocument/2006/relationships/extended-properties" Target="/docProps/app.xml" Id="Ra03fc08082184a4a" /><Relationship Type="http://schemas.openxmlformats.org/officeDocument/2006/relationships/officeDocument" Target="/ppt/presentation.xml" Id="R6019a5b582d54f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5f3a9e9bd545bd"/>
  </p:sldMasterIdLst>
  <p:notesMasterIdLst>
    <p:notesMasterId xmlns:r="http://schemas.openxmlformats.org/officeDocument/2006/relationships" r:id="Ra6911cd8139d4aaf"/>
  </p:notesMasterIdLst>
  <p:sldIdLst>
    <p:sldId xmlns:r="http://schemas.openxmlformats.org/officeDocument/2006/relationships" id="256" r:id="Rf50ec86d6f654b0e"/>
    <p:sldId xmlns:r="http://schemas.openxmlformats.org/officeDocument/2006/relationships" id="257" r:id="Rce5b2b3fe5b34537"/>
    <p:sldId xmlns:r="http://schemas.openxmlformats.org/officeDocument/2006/relationships" id="258" r:id="R3c0dd74598fd47a7"/>
    <p:sldId xmlns:r="http://schemas.openxmlformats.org/officeDocument/2006/relationships" id="259" r:id="R8feca18d0e3b4c5e"/>
    <p:sldId xmlns:r="http://schemas.openxmlformats.org/officeDocument/2006/relationships" id="260" r:id="Rc7958a892f03481d"/>
    <p:sldId xmlns:r="http://schemas.openxmlformats.org/officeDocument/2006/relationships" id="261" r:id="R273a0f3295cb45b2"/>
    <p:sldId xmlns:r="http://schemas.openxmlformats.org/officeDocument/2006/relationships" id="262" r:id="R5a3037ce0160430f"/>
    <p:sldId xmlns:r="http://schemas.openxmlformats.org/officeDocument/2006/relationships" id="263" r:id="Rca5cf086024a4b77"/>
    <p:sldId xmlns:r="http://schemas.openxmlformats.org/officeDocument/2006/relationships" id="264" r:id="R2b45123229c24e5c"/>
    <p:sldId xmlns:r="http://schemas.openxmlformats.org/officeDocument/2006/relationships" id="265" r:id="R4f1a592ff0394fdd"/>
    <p:sldId xmlns:r="http://schemas.openxmlformats.org/officeDocument/2006/relationships" id="266" r:id="Re79415aabc2b498c"/>
    <p:sldId xmlns:r="http://schemas.openxmlformats.org/officeDocument/2006/relationships" id="267" r:id="R1a7f3331cac64ae7"/>
    <p:sldId xmlns:r="http://schemas.openxmlformats.org/officeDocument/2006/relationships" id="268" r:id="Rc8dfc9c743df40b4"/>
    <p:sldId xmlns:r="http://schemas.openxmlformats.org/officeDocument/2006/relationships" id="269" r:id="R8bf6e93fd3b74b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4137ffd68d4f33" /><Relationship Type="http://schemas.openxmlformats.org/officeDocument/2006/relationships/slideMaster" Target="/ppt/slideMasters/slideMaster1.xml" Id="Rc25f3a9e9bd545bd" /><Relationship Type="http://schemas.openxmlformats.org/officeDocument/2006/relationships/notesMaster" Target="/ppt/notesMasters/notesMaster1.xml" Id="Ra6911cd8139d4aaf" /><Relationship Type="http://schemas.openxmlformats.org/officeDocument/2006/relationships/presProps" Target="/ppt/presProps.xml" Id="R1076c84f75a44ce4" /><Relationship Type="http://schemas.openxmlformats.org/officeDocument/2006/relationships/tableStyles" Target="/ppt/tableStyles.xml" Id="R51c42f1f6cb24ee2" /><Relationship Type="http://schemas.openxmlformats.org/officeDocument/2006/relationships/slide" Target="/ppt/slides/slide1.xml" Id="Rf50ec86d6f654b0e" /><Relationship Type="http://schemas.openxmlformats.org/officeDocument/2006/relationships/slide" Target="/ppt/slides/slide2.xml" Id="Rce5b2b3fe5b34537" /><Relationship Type="http://schemas.openxmlformats.org/officeDocument/2006/relationships/slide" Target="/ppt/slides/slide3.xml" Id="R3c0dd74598fd47a7" /><Relationship Type="http://schemas.openxmlformats.org/officeDocument/2006/relationships/slide" Target="/ppt/slides/slide4.xml" Id="R8feca18d0e3b4c5e" /><Relationship Type="http://schemas.openxmlformats.org/officeDocument/2006/relationships/slide" Target="/ppt/slides/slide5.xml" Id="Rc7958a892f03481d" /><Relationship Type="http://schemas.openxmlformats.org/officeDocument/2006/relationships/slide" Target="/ppt/slides/slide6.xml" Id="R273a0f3295cb45b2" /><Relationship Type="http://schemas.openxmlformats.org/officeDocument/2006/relationships/slide" Target="/ppt/slides/slide7.xml" Id="R5a3037ce0160430f" /><Relationship Type="http://schemas.openxmlformats.org/officeDocument/2006/relationships/slide" Target="/ppt/slides/slide8.xml" Id="Rca5cf086024a4b77" /><Relationship Type="http://schemas.openxmlformats.org/officeDocument/2006/relationships/slide" Target="/ppt/slides/slide9.xml" Id="R2b45123229c24e5c" /><Relationship Type="http://schemas.openxmlformats.org/officeDocument/2006/relationships/slide" Target="/ppt/slides/slide10.xml" Id="R4f1a592ff0394fdd" /><Relationship Type="http://schemas.openxmlformats.org/officeDocument/2006/relationships/slide" Target="/ppt/slides/slide11.xml" Id="Re79415aabc2b498c" /><Relationship Type="http://schemas.openxmlformats.org/officeDocument/2006/relationships/slide" Target="/ppt/slides/slide12.xml" Id="R1a7f3331cac64ae7" /><Relationship Type="http://schemas.openxmlformats.org/officeDocument/2006/relationships/slide" Target="/ppt/slides/slide13.xml" Id="Rc8dfc9c743df40b4" /><Relationship Type="http://schemas.openxmlformats.org/officeDocument/2006/relationships/slide" Target="/ppt/slides/slide14.xml" Id="R8bf6e93fd3b74b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81608b6b544f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106bde837c49c6" /><Relationship Type="http://schemas.openxmlformats.org/officeDocument/2006/relationships/notesMaster" Target="/ppt/notesMasters/notesMaster1.xml" Id="Rdf4ef8bf559b49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298482863f49aa" /><Relationship Type="http://schemas.openxmlformats.org/officeDocument/2006/relationships/notesMaster" Target="/ppt/notesMasters/notesMaster1.xml" Id="R875720340fe941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fa2673cf2a4999" /><Relationship Type="http://schemas.openxmlformats.org/officeDocument/2006/relationships/notesMaster" Target="/ppt/notesMasters/notesMaster1.xml" Id="R3a83a9441b504e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4e3632f2b5404f" /><Relationship Type="http://schemas.openxmlformats.org/officeDocument/2006/relationships/notesMaster" Target="/ppt/notesMasters/notesMaster1.xml" Id="R09538299a3f645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78c7286cf64ae2" /><Relationship Type="http://schemas.openxmlformats.org/officeDocument/2006/relationships/notesMaster" Target="/ppt/notesMasters/notesMaster1.xml" Id="R08d390edc29648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09c3c6ac7c45b4" /><Relationship Type="http://schemas.openxmlformats.org/officeDocument/2006/relationships/notesMaster" Target="/ppt/notesMasters/notesMaster1.xml" Id="R733d2724492749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34f6ab444241dd" /><Relationship Type="http://schemas.openxmlformats.org/officeDocument/2006/relationships/notesMaster" Target="/ppt/notesMasters/notesMaster1.xml" Id="R8c9a5cd15f7148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706639ee6e47b8" /><Relationship Type="http://schemas.openxmlformats.org/officeDocument/2006/relationships/notesMaster" Target="/ppt/notesMasters/notesMaster1.xml" Id="Rd066bf8b94524e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b07ec17d334fa8" /><Relationship Type="http://schemas.openxmlformats.org/officeDocument/2006/relationships/notesMaster" Target="/ppt/notesMasters/notesMaster1.xml" Id="R8e3f0fdea4f947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c08d173acd4609" /><Relationship Type="http://schemas.openxmlformats.org/officeDocument/2006/relationships/notesMaster" Target="/ppt/notesMasters/notesMaster1.xml" Id="Re758f476c56a49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e6d04067ca24a4b" /><Relationship Type="http://schemas.openxmlformats.org/officeDocument/2006/relationships/notesMaster" Target="/ppt/notesMasters/notesMaster1.xml" Id="Rea97b0d7c0474c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bfb41adfd004bf2" /><Relationship Type="http://schemas.openxmlformats.org/officeDocument/2006/relationships/notesMaster" Target="/ppt/notesMasters/notesMaster1.xml" Id="R997bf1fe2db446c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82f5dd03ad04fe6" /><Relationship Type="http://schemas.openxmlformats.org/officeDocument/2006/relationships/notesMaster" Target="/ppt/notesMasters/notesMaster1.xml" Id="R55f9831dd7b8455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0eb80e899e74bf1" /><Relationship Type="http://schemas.openxmlformats.org/officeDocument/2006/relationships/notesMaster" Target="/ppt/notesMasters/notesMaster1.xml" Id="R9741f57fdc2e4e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Strategic_Workforce_Intelligence_Platform_Design.md — 0, 1, 21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Strategic_Workforce_Intelligence_Platform_Design.md — 0–2, 6, 21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 구조이며 실제 연계 주기와 기술 구성은 상세 설계에서 확정한다.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Strategic_Workforce_Intelligence_Platform_Design.md — 3, 13, 20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Strategic_Workforce_Intelligence_Platform_Design.md — 2.3, 4, 11, 15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Strategic_Workforce_Intelligence_Platform_Design.md — 5, 11, 15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 month는 기간 누적 투입량이다. 아래는 설명용 예시이며 회사의 월 기준시간, 부분월, 휴가·초과근무 반영 정책은 별도 확정한다. 계획값과 실적값은 구분한다.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Strategic_Workforce_Intelligence_Platform_Design.md — 2.2, 11, 15; 사용자 용어 지침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Strategic_Workforce_Intelligence_Platform_Design.md — 6–8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원인 설명은 검증 가능한 이동·투입 기록에 기반한다. 상관관계만으로 인과를 단정하지 않고 추정과 확인된 사실을 구분한다.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Strategic_Workforce_Intelligence_Platform_Design.md — 7, 13, 14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Strategic_Workforce_Intelligence_Platform_Design.md — 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아래 수치는 회사 실적이 아닌 설명용 가정이다. 같은 3개월 기간에 기존 과제 추가 투입 의무가 없고 역량·일정 매칭을 통과한다는 조건이다. 인원과 Man month는 직접 대체되지 않는다.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Strategic_Workforce_Intelligence_Platform_Design.md — 5.1, 6, 8; 기간 명시를 위해 재구성한 설명용 예시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Strategic_Workforce_Intelligence_Platform_Design.md — 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Strategic_Workforce_Intelligence_Platform_Design.md — 13–15; 승인·추적 원칙은 실행 설계 제안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Strategic_Workforce_Intelligence_Platform_Design.md — 16, 17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Strategic_Workforce_Intelligence_Platform_Design.md — 17–19, 22; 검증 지표는 제안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5e5f7c088143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11865d950a4d2d" /><Relationship Type="http://schemas.openxmlformats.org/officeDocument/2006/relationships/slideLayout" Target="/ppt/slideLayouts/slideLayout1.xml" Id="R0499bcdf69264b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99bcdf69264b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eb004fb2447d5" /><Relationship Type="http://schemas.openxmlformats.org/officeDocument/2006/relationships/notesSlide" Target="/ppt/notesSlides/notesSlide1.xml" Id="R6bc2e4179c8841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183fc120d42af" /><Relationship Type="http://schemas.openxmlformats.org/officeDocument/2006/relationships/notesSlide" Target="/ppt/notesSlides/notesSlide2.xml" Id="Rece28a4561e847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786302f02c41cc" /><Relationship Type="http://schemas.openxmlformats.org/officeDocument/2006/relationships/notesSlide" Target="/ppt/notesSlides/notesSlide3.xml" Id="R10f1dc3f92f449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747ccfc4f4508" /><Relationship Type="http://schemas.openxmlformats.org/officeDocument/2006/relationships/notesSlide" Target="/ppt/notesSlides/notesSlide4.xml" Id="Rab59823d25a746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8e0b9e9264dcd" /><Relationship Type="http://schemas.openxmlformats.org/officeDocument/2006/relationships/notesSlide" Target="/ppt/notesSlides/notesSlide5.xml" Id="Rbdf6080577d34e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5280a1101f4e64" /><Relationship Type="http://schemas.openxmlformats.org/officeDocument/2006/relationships/notesSlide" Target="/ppt/notesSlides/notesSlide6.xml" Id="R57b4d6a015e44a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f29223d1c401c" /><Relationship Type="http://schemas.openxmlformats.org/officeDocument/2006/relationships/notesSlide" Target="/ppt/notesSlides/notesSlide7.xml" Id="Rff9951308b714a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2d9d865584e74" /><Relationship Type="http://schemas.openxmlformats.org/officeDocument/2006/relationships/notesSlide" Target="/ppt/notesSlides/notesSlide8.xml" Id="R59c4a940c28c49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4301de3ad4650" /><Relationship Type="http://schemas.openxmlformats.org/officeDocument/2006/relationships/notesSlide" Target="/ppt/notesSlides/notesSlide9.xml" Id="Re6228c6f3b354c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789e19c4d4655" /><Relationship Type="http://schemas.openxmlformats.org/officeDocument/2006/relationships/notesSlide" Target="/ppt/notesSlides/notesSlide10.xml" Id="R0d545a0c24da49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e8b71df8f4d48" /><Relationship Type="http://schemas.openxmlformats.org/officeDocument/2006/relationships/notesSlide" Target="/ppt/notesSlides/notesSlide11.xml" Id="Rca9f9bb7e46a44a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cc61f676b4c20" /><Relationship Type="http://schemas.openxmlformats.org/officeDocument/2006/relationships/notesSlide" Target="/ppt/notesSlides/notesSlide12.xml" Id="Rb80dfd2d9da0449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ab0eaf040744b3" /><Relationship Type="http://schemas.openxmlformats.org/officeDocument/2006/relationships/notesSlide" Target="/ppt/notesSlides/notesSlide13.xml" Id="R91b0e17d2e714b9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8c279766e9410e" /><Relationship Type="http://schemas.openxmlformats.org/officeDocument/2006/relationships/notesSlide" Target="/ppt/notesSlides/notesSlide14.xml" Id="R6210117b8a1a4e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0">
            <a:extLst xmlns:a="http://schemas.openxmlformats.org/drawingml/2006/main">
              <a:ext uri="{FF2B5EF4-FFF2-40B4-BE49-F238E27FC236}">
                <a16:creationId xmlns:a16="http://schemas.microsoft.com/office/drawing/2014/main" id="{7A4E5DFF-DAE1-4744-8877-58E3EBD1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391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0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리더 보고 · 시스템 구축 구상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9FEFC3E-B366-41BC-8A3E-1752D84D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113919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70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전략적 인력운영</a:t>
            </a:r>
          </a:p>
          <a:p xmlns:a="http://schemas.openxmlformats.org/drawingml/2006/main">
            <a:pPr>
              <a:defRPr sz="570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70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인텔리전스 플랫폼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FC782CA-5FB7-40C0-AF5C-EFA5EE10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43450"/>
            <a:ext cx="11391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사람·업무·사업계획을 연결하는</a:t>
            </a:r>
          </a:p>
          <a:p xmlns:a="http://schemas.openxmlformats.org/drawingml/2006/main">
            <a:pPr>
              <a:defRPr sz="27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전사 인력 의사결정 체계</a:t>
            </a:r>
          </a:p>
        </p:txBody>
      </p:sp>
    </p:spTree>
    <p:extLst>
      <p:ext uri="{BB962C8B-B14F-4D97-AF65-F5344CB8AC3E}">
        <p14:creationId xmlns:p14="http://schemas.microsoft.com/office/powerpoint/2010/main" val="1981958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3">
            <a:extLst xmlns:a="http://schemas.openxmlformats.org/drawingml/2006/main">
              <a:ext uri="{FF2B5EF4-FFF2-40B4-BE49-F238E27FC236}">
                <a16:creationId xmlns:a16="http://schemas.microsoft.com/office/drawing/2014/main" id="{5E78EEA7-BBAE-4888-9DB9-C2FF0C92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인력 의사결정에 필요한 근거를 연결합니다</a:t>
            </a:r>
          </a:p>
        </p:txBody>
      </p:sp>
      <p:sp>
        <p:nvSpPr>
          <p:cNvPr id="2" name="text-4">
            <a:extLst xmlns:a="http://schemas.openxmlformats.org/drawingml/2006/main">
              <a:ext uri="{FF2B5EF4-FFF2-40B4-BE49-F238E27FC236}">
                <a16:creationId xmlns:a16="http://schemas.microsoft.com/office/drawing/2014/main" id="{92781EEE-C0A4-4BEC-95A5-4B8F9DFC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15075"/>
            <a:ext cx="1047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01  추진 목적</a:t>
            </a:r>
          </a:p>
        </p:txBody>
      </p:sp>
      <p:sp>
        <p:nvSpPr>
          <p:cNvPr id="3" name="text-5">
            <a:extLst xmlns:a="http://schemas.openxmlformats.org/drawingml/2006/main">
              <a:ext uri="{FF2B5EF4-FFF2-40B4-BE49-F238E27FC236}">
                <a16:creationId xmlns:a16="http://schemas.microsoft.com/office/drawing/2014/main" id="{16958523-0062-4DAA-BB61-ABCB218C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4" name="text-6">
            <a:extLst xmlns:a="http://schemas.openxmlformats.org/drawingml/2006/main">
              <a:ext uri="{FF2B5EF4-FFF2-40B4-BE49-F238E27FC236}">
                <a16:creationId xmlns:a16="http://schemas.microsoft.com/office/drawing/2014/main" id="{F9D13944-772F-4567-8D5B-823A8DA6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핵심 질문: 앞으로 어떤 인력이 필요하며, 어디에 배치해야 하는가?</a:t>
            </a:r>
          </a:p>
        </p:txBody>
      </p:sp>
      <p:sp>
        <p:nvSpPr>
          <p:cNvPr id="5" name="text-7">
            <a:extLst xmlns:a="http://schemas.openxmlformats.org/drawingml/2006/main">
              <a:ext uri="{FF2B5EF4-FFF2-40B4-BE49-F238E27FC236}">
                <a16:creationId xmlns:a16="http://schemas.microsoft.com/office/drawing/2014/main" id="{1C3F16A2-39A1-4C52-B9B6-1022EC61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9087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현재를 이해</a:t>
            </a:r>
          </a:p>
        </p:txBody>
      </p:sp>
      <p:sp>
        <p:nvSpPr>
          <p:cNvPr id="6" name="text-8">
            <a:extLst xmlns:a="http://schemas.openxmlformats.org/drawingml/2006/main">
              <a:ext uri="{FF2B5EF4-FFF2-40B4-BE49-F238E27FC236}">
                <a16:creationId xmlns:a16="http://schemas.microsoft.com/office/drawing/2014/main" id="{463F7EEF-4214-4881-BA80-5A30CA8B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35623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어디에 누가 배치되어</a:t>
            </a:r>
          </a:p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어떤 일을 수행하는지</a:t>
            </a:r>
          </a:p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동일한 기준으로 파악</a:t>
            </a:r>
          </a:p>
        </p:txBody>
      </p:sp>
      <p:sp>
        <p:nvSpPr>
          <p:cNvPr id="7" name="text-9">
            <a:extLst xmlns:a="http://schemas.openxmlformats.org/drawingml/2006/main">
              <a:ext uri="{FF2B5EF4-FFF2-40B4-BE49-F238E27FC236}">
                <a16:creationId xmlns:a16="http://schemas.microsoft.com/office/drawing/2014/main" id="{32A3988B-52A6-4629-91F5-0261C6C4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9087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미래를 준비</a:t>
            </a:r>
          </a:p>
        </p:txBody>
      </p:sp>
      <p:sp>
        <p:nvSpPr>
          <p:cNvPr id="8" name="text-10">
            <a:extLst xmlns:a="http://schemas.openxmlformats.org/drawingml/2006/main">
              <a:ext uri="{FF2B5EF4-FFF2-40B4-BE49-F238E27FC236}">
                <a16:creationId xmlns:a16="http://schemas.microsoft.com/office/drawing/2014/main" id="{59DC2A2C-5B12-4797-AA6E-15BBD58C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829050"/>
            <a:ext cx="35623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사업·과제 계획에 따른</a:t>
            </a:r>
          </a:p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역량과 Man month 수요를</a:t>
            </a:r>
          </a:p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가용 공급과 비교</a:t>
            </a:r>
          </a:p>
        </p:txBody>
      </p:sp>
      <p:sp>
        <p:nvSpPr>
          <p:cNvPr id="9" name="text-11">
            <a:extLst xmlns:a="http://schemas.openxmlformats.org/drawingml/2006/main">
              <a:ext uri="{FF2B5EF4-FFF2-40B4-BE49-F238E27FC236}">
                <a16:creationId xmlns:a16="http://schemas.microsoft.com/office/drawing/2014/main" id="{B3C25EE1-3EFE-4939-BA7C-A279189E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9087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대안을 비교</a:t>
            </a:r>
          </a:p>
        </p:txBody>
      </p:sp>
      <p:sp>
        <p:nvSpPr>
          <p:cNvPr id="10" name="text-12">
            <a:extLst xmlns:a="http://schemas.openxmlformats.org/drawingml/2006/main">
              <a:ext uri="{FF2B5EF4-FFF2-40B4-BE49-F238E27FC236}">
                <a16:creationId xmlns:a16="http://schemas.microsoft.com/office/drawing/2014/main" id="{26D32B9C-CC03-40C9-A236-FB321478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29050"/>
            <a:ext cx="35623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내부 재배치와 채용의</a:t>
            </a:r>
          </a:p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일정·원가·사업 영향을</a:t>
            </a:r>
          </a:p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함께 검토</a:t>
            </a:r>
          </a:p>
        </p:txBody>
      </p:sp>
    </p:spTree>
    <p:extLst>
      <p:ext uri="{BB962C8B-B14F-4D97-AF65-F5344CB8AC3E}">
        <p14:creationId xmlns:p14="http://schemas.microsoft.com/office/powerpoint/2010/main" val="2799954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13">
            <a:extLst xmlns:a="http://schemas.openxmlformats.org/drawingml/2006/main">
              <a:ext uri="{FF2B5EF4-FFF2-40B4-BE49-F238E27FC236}">
                <a16:creationId xmlns:a16="http://schemas.microsoft.com/office/drawing/2014/main" id="{CDB4E865-CF87-4242-B8AA-E365DC5D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데이터에서 의사결정까지 하나로 연결합니다</a:t>
            </a:r>
          </a:p>
        </p:txBody>
      </p:sp>
      <p:sp>
        <p:nvSpPr>
          <p:cNvPr id="2" name="text-14">
            <a:extLst xmlns:a="http://schemas.openxmlformats.org/drawingml/2006/main">
              <a:ext uri="{FF2B5EF4-FFF2-40B4-BE49-F238E27FC236}">
                <a16:creationId xmlns:a16="http://schemas.microsoft.com/office/drawing/2014/main" id="{25A5A0C8-DB3F-4398-9911-84151713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15075"/>
            <a:ext cx="1047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02  전체 시스템 구조</a:t>
            </a:r>
          </a:p>
        </p:txBody>
      </p:sp>
      <p:sp>
        <p:nvSpPr>
          <p:cNvPr id="3" name="text-15">
            <a:extLst xmlns:a="http://schemas.openxmlformats.org/drawingml/2006/main">
              <a:ext uri="{FF2B5EF4-FFF2-40B4-BE49-F238E27FC236}">
                <a16:creationId xmlns:a16="http://schemas.microsoft.com/office/drawing/2014/main" id="{B250A13F-1527-473B-9A50-A898D737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4" name="text-16">
            <a:extLst xmlns:a="http://schemas.openxmlformats.org/drawingml/2006/main">
              <a:ext uri="{FF2B5EF4-FFF2-40B4-BE49-F238E27FC236}">
                <a16:creationId xmlns:a16="http://schemas.microsoft.com/office/drawing/2014/main" id="{B55FF8C1-B9FC-4612-BE9E-A24AE203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526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64C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64C0"/>
                </a:solidFill>
                <a:latin typeface="Apple SD Gothic Neo"/>
                <a:ea typeface="Apple SD Gothic Neo"/>
                <a:cs typeface="Apple SD Gothic Neo"/>
              </a:rPr>
              <a:t>↑</a:t>
            </a:r>
          </a:p>
        </p:txBody>
      </p:sp>
      <p:sp>
        <p:nvSpPr>
          <p:cNvPr id="5" name="text-17">
            <a:extLst xmlns:a="http://schemas.openxmlformats.org/drawingml/2006/main">
              <a:ext uri="{FF2B5EF4-FFF2-40B4-BE49-F238E27FC236}">
                <a16:creationId xmlns:a16="http://schemas.microsoft.com/office/drawing/2014/main" id="{4F792E42-3996-4111-968D-69989BFF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670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64C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64C0"/>
                </a:solidFill>
                <a:latin typeface="Apple SD Gothic Neo"/>
                <a:ea typeface="Apple SD Gothic Neo"/>
                <a:cs typeface="Apple SD Gothic Neo"/>
              </a:rPr>
              <a:t>↑</a:t>
            </a:r>
          </a:p>
        </p:txBody>
      </p:sp>
      <p:sp>
        <p:nvSpPr>
          <p:cNvPr id="6" name="text-18">
            <a:extLst xmlns:a="http://schemas.openxmlformats.org/drawingml/2006/main">
              <a:ext uri="{FF2B5EF4-FFF2-40B4-BE49-F238E27FC236}">
                <a16:creationId xmlns:a16="http://schemas.microsoft.com/office/drawing/2014/main" id="{65FFE910-E6BF-4255-A680-11DB182B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814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64C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64C0"/>
                </a:solidFill>
                <a:latin typeface="Apple SD Gothic Neo"/>
                <a:ea typeface="Apple SD Gothic Neo"/>
                <a:cs typeface="Apple SD Gothic Neo"/>
              </a:rPr>
              <a:t>↑</a:t>
            </a:r>
          </a:p>
        </p:txBody>
      </p:sp>
      <p:sp>
        <p:nvSpPr>
          <p:cNvPr id="7" name="text-19">
            <a:extLst xmlns:a="http://schemas.openxmlformats.org/drawingml/2006/main">
              <a:ext uri="{FF2B5EF4-FFF2-40B4-BE49-F238E27FC236}">
                <a16:creationId xmlns:a16="http://schemas.microsoft.com/office/drawing/2014/main" id="{256DB157-0C16-4644-89BF-4C83D8BC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958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64C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64C0"/>
                </a:solidFill>
                <a:latin typeface="Apple SD Gothic Neo"/>
                <a:ea typeface="Apple SD Gothic Neo"/>
                <a:cs typeface="Apple SD Gothic Neo"/>
              </a:rPr>
              <a:t>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8A16B-D474-44B6-B4B9-10973093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52575"/>
            <a:ext cx="11391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</a:ln>
        </p:spPr>
      </p:sp>
      <p:sp>
        <p:nvSpPr>
          <p:cNvPr id="9" name="text-20">
            <a:extLst xmlns:a="http://schemas.openxmlformats.org/drawingml/2006/main">
              <a:ext uri="{FF2B5EF4-FFF2-40B4-BE49-F238E27FC236}">
                <a16:creationId xmlns:a16="http://schemas.microsoft.com/office/drawing/2014/main" id="{838023F1-92FF-41CE-A150-A6A533DC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714500"/>
            <a:ext cx="4019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의사결정 접점</a:t>
            </a:r>
          </a:p>
        </p:txBody>
      </p:sp>
      <p:sp>
        <p:nvSpPr>
          <p:cNvPr id="10" name="text-21">
            <a:extLst xmlns:a="http://schemas.openxmlformats.org/drawingml/2006/main">
              <a:ext uri="{FF2B5EF4-FFF2-40B4-BE49-F238E27FC236}">
                <a16:creationId xmlns:a16="http://schemas.microsoft.com/office/drawing/2014/main" id="{FDF5336C-2668-4B5F-87ED-F45D5BDE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24025"/>
            <a:ext cx="6905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Workforce Command Center  ·  Ask Workforce 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841CE0-68F6-4C68-9F56-9D901FED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66975"/>
            <a:ext cx="11391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</a:ln>
        </p:spPr>
      </p:sp>
      <p:sp>
        <p:nvSpPr>
          <p:cNvPr id="12" name="text-22">
            <a:extLst xmlns:a="http://schemas.openxmlformats.org/drawingml/2006/main">
              <a:ext uri="{FF2B5EF4-FFF2-40B4-BE49-F238E27FC236}">
                <a16:creationId xmlns:a16="http://schemas.microsoft.com/office/drawing/2014/main" id="{CF9C5DCA-2BCD-46C9-946D-2F237315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28900"/>
            <a:ext cx="4019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분석·추론·시뮬레이션</a:t>
            </a:r>
          </a:p>
        </p:txBody>
      </p:sp>
      <p:sp>
        <p:nvSpPr>
          <p:cNvPr id="13" name="text-23">
            <a:extLst xmlns:a="http://schemas.openxmlformats.org/drawingml/2006/main">
              <a:ext uri="{FF2B5EF4-FFF2-40B4-BE49-F238E27FC236}">
                <a16:creationId xmlns:a16="http://schemas.microsoft.com/office/drawing/2014/main" id="{437FEAFC-5CFE-466C-A683-D3840363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38425"/>
            <a:ext cx="6905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현황·변화 분석  /  원인 설명  /  예측·대안 비교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9898F7-8B20-41B1-AA0F-9E222150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81375"/>
            <a:ext cx="11391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B"/>
          </a:solidFill>
          <a:ln xmlns:a="http://schemas.openxmlformats.org/drawingml/2006/main" w="0">
            <a:noFill/>
          </a:ln>
        </p:spPr>
      </p:sp>
      <p:sp>
        <p:nvSpPr>
          <p:cNvPr id="15" name="text-24">
            <a:extLst xmlns:a="http://schemas.openxmlformats.org/drawingml/2006/main">
              <a:ext uri="{FF2B5EF4-FFF2-40B4-BE49-F238E27FC236}">
                <a16:creationId xmlns:a16="http://schemas.microsoft.com/office/drawing/2014/main" id="{9E9369BE-1DC9-464B-A909-57BEAC43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543300"/>
            <a:ext cx="4019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Workforce Semantic Layer</a:t>
            </a:r>
          </a:p>
        </p:txBody>
      </p:sp>
      <p:sp>
        <p:nvSpPr>
          <p:cNvPr id="16" name="text-25">
            <a:extLst xmlns:a="http://schemas.openxmlformats.org/drawingml/2006/main">
              <a:ext uri="{FF2B5EF4-FFF2-40B4-BE49-F238E27FC236}">
                <a16:creationId xmlns:a16="http://schemas.microsoft.com/office/drawing/2014/main" id="{C93BD43B-8C75-4BBC-8437-379FA8C3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52825"/>
            <a:ext cx="6905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사람·조직·직무·역량·과제·시간의 관계와 지표 표준화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3DA658-FD90-4680-9820-A09FFDE1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95775"/>
            <a:ext cx="11391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</a:ln>
        </p:spPr>
      </p:sp>
      <p:sp>
        <p:nvSpPr>
          <p:cNvPr id="18" name="text-26">
            <a:extLst xmlns:a="http://schemas.openxmlformats.org/drawingml/2006/main">
              <a:ext uri="{FF2B5EF4-FFF2-40B4-BE49-F238E27FC236}">
                <a16:creationId xmlns:a16="http://schemas.microsoft.com/office/drawing/2014/main" id="{4E609F81-1326-4F9B-AF8D-4210E13F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457700"/>
            <a:ext cx="4019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People Data Platform</a:t>
            </a:r>
          </a:p>
        </p:txBody>
      </p:sp>
      <p:sp>
        <p:nvSpPr>
          <p:cNvPr id="19" name="text-27">
            <a:extLst xmlns:a="http://schemas.openxmlformats.org/drawingml/2006/main">
              <a:ext uri="{FF2B5EF4-FFF2-40B4-BE49-F238E27FC236}">
                <a16:creationId xmlns:a16="http://schemas.microsoft.com/office/drawing/2014/main" id="{2FF2A640-6935-4877-8E8B-159EEB90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67225"/>
            <a:ext cx="6905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데이터 통합  ·  품질 검증  ·  기준정보  ·  시점 이력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5638FE-185C-443C-A596-7B9A5990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0175"/>
            <a:ext cx="11391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</a:ln>
        </p:spPr>
      </p:sp>
      <p:sp>
        <p:nvSpPr>
          <p:cNvPr id="21" name="text-28">
            <a:extLst xmlns:a="http://schemas.openxmlformats.org/drawingml/2006/main">
              <a:ext uri="{FF2B5EF4-FFF2-40B4-BE49-F238E27FC236}">
                <a16:creationId xmlns:a16="http://schemas.microsoft.com/office/drawing/2014/main" id="{056FB669-73CE-4C28-8F5A-DA65BD20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372100"/>
            <a:ext cx="4019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원천 시스템</a:t>
            </a:r>
          </a:p>
        </p:txBody>
      </p:sp>
      <p:sp>
        <p:nvSpPr>
          <p:cNvPr id="22" name="text-29">
            <a:extLst xmlns:a="http://schemas.openxmlformats.org/drawingml/2006/main">
              <a:ext uri="{FF2B5EF4-FFF2-40B4-BE49-F238E27FC236}">
                <a16:creationId xmlns:a16="http://schemas.microsoft.com/office/drawing/2014/main" id="{E5583D6E-4F33-46CA-9114-A8A057D3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381625"/>
            <a:ext cx="6905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HR  ·  근태  ·  과제  ·  역량  ·  채용  ·  원가  ·  사업계획</a:t>
            </a:r>
          </a:p>
        </p:txBody>
      </p:sp>
    </p:spTree>
    <p:extLst>
      <p:ext uri="{BB962C8B-B14F-4D97-AF65-F5344CB8AC3E}">
        <p14:creationId xmlns:p14="http://schemas.microsoft.com/office/powerpoint/2010/main" val="17756097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30">
            <a:extLst xmlns:a="http://schemas.openxmlformats.org/drawingml/2006/main">
              <a:ext uri="{FF2B5EF4-FFF2-40B4-BE49-F238E27FC236}">
                <a16:creationId xmlns:a16="http://schemas.microsoft.com/office/drawing/2014/main" id="{1F01694D-690B-46B0-9C1F-4250AE43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공통 기준과 시점 이력이 분석의 기반입니다</a:t>
            </a:r>
          </a:p>
        </p:txBody>
      </p:sp>
      <p:sp>
        <p:nvSpPr>
          <p:cNvPr id="2" name="text-31">
            <a:extLst xmlns:a="http://schemas.openxmlformats.org/drawingml/2006/main">
              <a:ext uri="{FF2B5EF4-FFF2-40B4-BE49-F238E27FC236}">
                <a16:creationId xmlns:a16="http://schemas.microsoft.com/office/drawing/2014/main" id="{E5DF2580-3EF1-4E39-A498-1808A40B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15075"/>
            <a:ext cx="1047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03  데이터 기반</a:t>
            </a:r>
          </a:p>
        </p:txBody>
      </p:sp>
      <p:sp>
        <p:nvSpPr>
          <p:cNvPr id="3" name="text-32">
            <a:extLst xmlns:a="http://schemas.openxmlformats.org/drawingml/2006/main">
              <a:ext uri="{FF2B5EF4-FFF2-40B4-BE49-F238E27FC236}">
                <a16:creationId xmlns:a16="http://schemas.microsoft.com/office/drawing/2014/main" id="{1514826D-8A72-4084-977F-0C33AFAD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4" name="text-33">
            <a:extLst xmlns:a="http://schemas.openxmlformats.org/drawingml/2006/main">
              <a:ext uri="{FF2B5EF4-FFF2-40B4-BE49-F238E27FC236}">
                <a16:creationId xmlns:a16="http://schemas.microsoft.com/office/drawing/2014/main" id="{E458C941-6573-43F2-BBFE-A04F063E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41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기준 시스템 지정</a:t>
            </a:r>
          </a:p>
        </p:txBody>
      </p:sp>
      <p:sp>
        <p:nvSpPr>
          <p:cNvPr id="5" name="text-34">
            <a:extLst xmlns:a="http://schemas.openxmlformats.org/drawingml/2006/main">
              <a:ext uri="{FF2B5EF4-FFF2-40B4-BE49-F238E27FC236}">
                <a16:creationId xmlns:a16="http://schemas.microsoft.com/office/drawing/2014/main" id="{6E32B2AA-A70B-4D59-8F7A-B7EB1704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38425"/>
            <a:ext cx="5410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인력·조직은 HR, 과제는 PM</a:t>
            </a:r>
          </a:p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원가는 Finance 등 기준 출처 확정</a:t>
            </a:r>
          </a:p>
        </p:txBody>
      </p:sp>
      <p:sp>
        <p:nvSpPr>
          <p:cNvPr id="6" name="text-35">
            <a:extLst xmlns:a="http://schemas.openxmlformats.org/drawingml/2006/main">
              <a:ext uri="{FF2B5EF4-FFF2-40B4-BE49-F238E27FC236}">
                <a16:creationId xmlns:a16="http://schemas.microsoft.com/office/drawing/2014/main" id="{C72CD01D-F731-45C4-AA9D-7CBD0F72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00250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공통 식별자 연결</a:t>
            </a:r>
          </a:p>
        </p:txBody>
      </p:sp>
      <p:sp>
        <p:nvSpPr>
          <p:cNvPr id="7" name="text-36">
            <a:extLst xmlns:a="http://schemas.openxmlformats.org/drawingml/2006/main">
              <a:ext uri="{FF2B5EF4-FFF2-40B4-BE49-F238E27FC236}">
                <a16:creationId xmlns:a16="http://schemas.microsoft.com/office/drawing/2014/main" id="{31CE5325-9C56-4A81-A36B-469D1806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38425"/>
            <a:ext cx="552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사번·조직·과제 ID를 연결하고</a:t>
            </a:r>
          </a:p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명칭 및 분류 체계를 표준화</a:t>
            </a:r>
          </a:p>
        </p:txBody>
      </p:sp>
      <p:sp>
        <p:nvSpPr>
          <p:cNvPr id="8" name="text-37">
            <a:extLst xmlns:a="http://schemas.openxmlformats.org/drawingml/2006/main">
              <a:ext uri="{FF2B5EF4-FFF2-40B4-BE49-F238E27FC236}">
                <a16:creationId xmlns:a16="http://schemas.microsoft.com/office/drawing/2014/main" id="{A6EEB4DA-FFB5-49C2-A164-274C780E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541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변경 이력 보존</a:t>
            </a:r>
          </a:p>
        </p:txBody>
      </p:sp>
      <p:sp>
        <p:nvSpPr>
          <p:cNvPr id="9" name="text-38">
            <a:extLst xmlns:a="http://schemas.openxmlformats.org/drawingml/2006/main">
              <a:ext uri="{FF2B5EF4-FFF2-40B4-BE49-F238E27FC236}">
                <a16:creationId xmlns:a16="http://schemas.microsoft.com/office/drawing/2014/main" id="{68B6CE78-9EAF-4560-8CA1-DFCD8B3C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5410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조직개편·이동·배치 기간을 기록해</a:t>
            </a:r>
          </a:p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과거 시점과 변화 원인을 재현</a:t>
            </a:r>
          </a:p>
        </p:txBody>
      </p:sp>
      <p:sp>
        <p:nvSpPr>
          <p:cNvPr id="10" name="text-39">
            <a:extLst xmlns:a="http://schemas.openxmlformats.org/drawingml/2006/main">
              <a:ext uri="{FF2B5EF4-FFF2-40B4-BE49-F238E27FC236}">
                <a16:creationId xmlns:a16="http://schemas.microsoft.com/office/drawing/2014/main" id="{1C75A2D0-162F-4B1A-BE94-F28228B5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76700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품질과 갱신 관리</a:t>
            </a:r>
          </a:p>
        </p:txBody>
      </p:sp>
      <p:sp>
        <p:nvSpPr>
          <p:cNvPr id="11" name="text-40">
            <a:extLst xmlns:a="http://schemas.openxmlformats.org/drawingml/2006/main">
              <a:ext uri="{FF2B5EF4-FFF2-40B4-BE49-F238E27FC236}">
                <a16:creationId xmlns:a16="http://schemas.microsoft.com/office/drawing/2014/main" id="{86DA85F9-F94E-489A-8F62-3EDBC23A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14875"/>
            <a:ext cx="552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누락·중복·투입률을 검증하고</a:t>
            </a:r>
          </a:p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데이터별 갱신 기준과 책임자 지정</a:t>
            </a:r>
          </a:p>
        </p:txBody>
      </p:sp>
    </p:spTree>
    <p:extLst>
      <p:ext uri="{BB962C8B-B14F-4D97-AF65-F5344CB8AC3E}">
        <p14:creationId xmlns:p14="http://schemas.microsoft.com/office/powerpoint/2010/main" val="11812971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41">
            <a:extLst xmlns:a="http://schemas.openxmlformats.org/drawingml/2006/main">
              <a:ext uri="{FF2B5EF4-FFF2-40B4-BE49-F238E27FC236}">
                <a16:creationId xmlns:a16="http://schemas.microsoft.com/office/drawing/2014/main" id="{D21BDF6A-4879-4C9D-80D9-9A162FAD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사람과 과제의 관계를 공통 언어로 정의합니다</a:t>
            </a:r>
          </a:p>
        </p:txBody>
      </p:sp>
      <p:sp>
        <p:nvSpPr>
          <p:cNvPr id="2" name="text-42">
            <a:extLst xmlns:a="http://schemas.openxmlformats.org/drawingml/2006/main">
              <a:ext uri="{FF2B5EF4-FFF2-40B4-BE49-F238E27FC236}">
                <a16:creationId xmlns:a16="http://schemas.microsoft.com/office/drawing/2014/main" id="{D79A2A0A-5D4C-4591-9941-476C26CE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15075"/>
            <a:ext cx="1047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04  Semantic Layer</a:t>
            </a:r>
          </a:p>
        </p:txBody>
      </p:sp>
      <p:sp>
        <p:nvSpPr>
          <p:cNvPr id="3" name="text-43">
            <a:extLst xmlns:a="http://schemas.openxmlformats.org/drawingml/2006/main">
              <a:ext uri="{FF2B5EF4-FFF2-40B4-BE49-F238E27FC236}">
                <a16:creationId xmlns:a16="http://schemas.microsoft.com/office/drawing/2014/main" id="{C537B77D-912B-4B87-B0D5-480E1C6C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4" name="text-44">
            <a:extLst xmlns:a="http://schemas.openxmlformats.org/drawingml/2006/main">
              <a:ext uri="{FF2B5EF4-FFF2-40B4-BE49-F238E27FC236}">
                <a16:creationId xmlns:a16="http://schemas.microsoft.com/office/drawing/2014/main" id="{20659464-FCBA-4B87-9D00-EF5AB8AC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541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사람을 중심으로 연결</a:t>
            </a:r>
          </a:p>
        </p:txBody>
      </p:sp>
      <p:sp>
        <p:nvSpPr>
          <p:cNvPr id="5" name="text-45">
            <a:extLst xmlns:a="http://schemas.openxmlformats.org/drawingml/2006/main">
              <a:ext uri="{FF2B5EF4-FFF2-40B4-BE49-F238E27FC236}">
                <a16:creationId xmlns:a16="http://schemas.microsoft.com/office/drawing/2014/main" id="{76255C66-FA94-446D-8AED-74FF2186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52725"/>
            <a:ext cx="5410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소속 조직 · 직무 · 거점</a:t>
            </a:r>
          </a:p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보유 역량 · 경력 · 근태</a:t>
            </a:r>
          </a:p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참여 과제 · 투입 기간 · 원가</a:t>
            </a:r>
          </a:p>
        </p:txBody>
      </p:sp>
      <p:sp>
        <p:nvSpPr>
          <p:cNvPr id="6" name="text-46">
            <a:extLst xmlns:a="http://schemas.openxmlformats.org/drawingml/2006/main">
              <a:ext uri="{FF2B5EF4-FFF2-40B4-BE49-F238E27FC236}">
                <a16:creationId xmlns:a16="http://schemas.microsoft.com/office/drawing/2014/main" id="{686C44C2-5A36-41B8-82F9-1A588EB9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14550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과제를 중심으로 연결</a:t>
            </a:r>
          </a:p>
        </p:txBody>
      </p:sp>
      <p:sp>
        <p:nvSpPr>
          <p:cNvPr id="7" name="text-47">
            <a:extLst xmlns:a="http://schemas.openxmlformats.org/drawingml/2006/main">
              <a:ext uri="{FF2B5EF4-FFF2-40B4-BE49-F238E27FC236}">
                <a16:creationId xmlns:a16="http://schemas.microsoft.com/office/drawing/2014/main" id="{9526CADA-4E22-4547-BE88-1D757675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52725"/>
            <a:ext cx="552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제품 · 사업 우선순위 · 일정</a:t>
            </a:r>
          </a:p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필요 역량 · 필요 Man month</a:t>
            </a:r>
          </a:p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배치 인력 · 투입 계획 · 종료 시점</a:t>
            </a:r>
          </a:p>
        </p:txBody>
      </p:sp>
    </p:spTree>
    <p:extLst>
      <p:ext uri="{BB962C8B-B14F-4D97-AF65-F5344CB8AC3E}">
        <p14:creationId xmlns:p14="http://schemas.microsoft.com/office/powerpoint/2010/main" val="20706561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48">
            <a:extLst xmlns:a="http://schemas.openxmlformats.org/drawingml/2006/main">
              <a:ext uri="{FF2B5EF4-FFF2-40B4-BE49-F238E27FC236}">
                <a16:creationId xmlns:a16="http://schemas.microsoft.com/office/drawing/2014/main" id="{450F6723-C1C1-4708-91A5-27CD666B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투입 규모는 기간별 Man month로 관리합니다</a:t>
            </a:r>
          </a:p>
        </p:txBody>
      </p:sp>
      <p:sp>
        <p:nvSpPr>
          <p:cNvPr id="2" name="text-49">
            <a:extLst xmlns:a="http://schemas.openxmlformats.org/drawingml/2006/main">
              <a:ext uri="{FF2B5EF4-FFF2-40B4-BE49-F238E27FC236}">
                <a16:creationId xmlns:a16="http://schemas.microsoft.com/office/drawing/2014/main" id="{3AB6AEEA-0252-4C2F-8933-4E3313FD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15075"/>
            <a:ext cx="1047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05  인력 투입 기준</a:t>
            </a:r>
          </a:p>
        </p:txBody>
      </p:sp>
      <p:sp>
        <p:nvSpPr>
          <p:cNvPr id="3" name="text-50">
            <a:extLst xmlns:a="http://schemas.openxmlformats.org/drawingml/2006/main">
              <a:ext uri="{FF2B5EF4-FFF2-40B4-BE49-F238E27FC236}">
                <a16:creationId xmlns:a16="http://schemas.microsoft.com/office/drawing/2014/main" id="{28358A4B-A8E4-46FA-89D0-BF767988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4" name="text-51">
            <a:extLst xmlns:a="http://schemas.openxmlformats.org/drawingml/2006/main">
              <a:ext uri="{FF2B5EF4-FFF2-40B4-BE49-F238E27FC236}">
                <a16:creationId xmlns:a16="http://schemas.microsoft.com/office/drawing/2014/main" id="{73D491C9-CD8B-470C-B52E-93B3BACF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33525"/>
            <a:ext cx="11391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64C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764C0"/>
                </a:solidFill>
                <a:latin typeface="Apple SD Gothic Neo"/>
                <a:ea typeface="Apple SD Gothic Neo"/>
                <a:cs typeface="Apple SD Gothic Neo"/>
              </a:rPr>
              <a:t>1 Man month = 1명이 1개월 동안 전담 투입하는 업무량</a:t>
            </a:r>
          </a:p>
        </p:txBody>
      </p:sp>
      <p:sp>
        <p:nvSpPr>
          <p:cNvPr id="5" name="text-52">
            <a:extLst xmlns:a="http://schemas.openxmlformats.org/drawingml/2006/main">
              <a:ext uri="{FF2B5EF4-FFF2-40B4-BE49-F238E27FC236}">
                <a16:creationId xmlns:a16="http://schemas.microsoft.com/office/drawing/2014/main" id="{48A00050-0947-4ACB-89B3-E84BF423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38425"/>
            <a:ext cx="541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산정 방식</a:t>
            </a:r>
          </a:p>
        </p:txBody>
      </p:sp>
      <p:sp>
        <p:nvSpPr>
          <p:cNvPr id="6" name="text-53">
            <a:extLst xmlns:a="http://schemas.openxmlformats.org/drawingml/2006/main">
              <a:ext uri="{FF2B5EF4-FFF2-40B4-BE49-F238E27FC236}">
                <a16:creationId xmlns:a16="http://schemas.microsoft.com/office/drawing/2014/main" id="{FE36ABC1-9D98-4AC5-A5A6-35FC7929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5410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계획: 월별 개인 투입률의 합</a:t>
            </a:r>
          </a:p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실적: 월별 과제 투입시간 ÷ 월 기준시간</a:t>
            </a:r>
          </a:p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같은 기간의 수요·공급·실적을 비교</a:t>
            </a:r>
          </a:p>
        </p:txBody>
      </p:sp>
      <p:sp>
        <p:nvSpPr>
          <p:cNvPr id="7" name="text-54">
            <a:extLst xmlns:a="http://schemas.openxmlformats.org/drawingml/2006/main">
              <a:ext uri="{FF2B5EF4-FFF2-40B4-BE49-F238E27FC236}">
                <a16:creationId xmlns:a16="http://schemas.microsoft.com/office/drawing/2014/main" id="{D60B5540-8EBB-46FC-8D0F-071FE3B8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38425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예시 · 동일 인력 1명, 3개월</a:t>
            </a:r>
          </a:p>
        </p:txBody>
      </p:sp>
      <p:sp>
        <p:nvSpPr>
          <p:cNvPr id="8" name="text-55">
            <a:extLst xmlns:a="http://schemas.openxmlformats.org/drawingml/2006/main">
              <a:ext uri="{FF2B5EF4-FFF2-40B4-BE49-F238E27FC236}">
                <a16:creationId xmlns:a16="http://schemas.microsoft.com/office/drawing/2014/main" id="{2D946C69-AD43-4157-A525-92E0BF93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76600"/>
            <a:ext cx="552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과제 A   50% × 3개월 = 1.5 Man month</a:t>
            </a:r>
          </a:p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과제 B   30% × 3개월 = 0.9 Man month</a:t>
            </a:r>
          </a:p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공통업무 20% × 3개월 = 0.6 Man month</a:t>
            </a:r>
          </a:p>
        </p:txBody>
      </p:sp>
      <p:sp>
        <p:nvSpPr>
          <p:cNvPr id="9" name="text-56">
            <a:extLst xmlns:a="http://schemas.openxmlformats.org/drawingml/2006/main">
              <a:ext uri="{FF2B5EF4-FFF2-40B4-BE49-F238E27FC236}">
                <a16:creationId xmlns:a16="http://schemas.microsoft.com/office/drawing/2014/main" id="{4FB5C0DC-6B10-4BEE-88BF-FE8FC563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62575"/>
            <a:ext cx="113919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인원수 1명  /  3개월 총 투입량 3.0 Man month</a:t>
            </a:r>
          </a:p>
        </p:txBody>
      </p:sp>
    </p:spTree>
    <p:extLst>
      <p:ext uri="{BB962C8B-B14F-4D97-AF65-F5344CB8AC3E}">
        <p14:creationId xmlns:p14="http://schemas.microsoft.com/office/powerpoint/2010/main" val="83590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57">
            <a:extLst xmlns:a="http://schemas.openxmlformats.org/drawingml/2006/main">
              <a:ext uri="{FF2B5EF4-FFF2-40B4-BE49-F238E27FC236}">
                <a16:creationId xmlns:a16="http://schemas.microsoft.com/office/drawing/2014/main" id="{41249B23-E821-4311-A12F-BEBD3296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분석 역량은 현황에서 배치 최적화로 확장합니다</a:t>
            </a:r>
          </a:p>
        </p:txBody>
      </p:sp>
      <p:sp>
        <p:nvSpPr>
          <p:cNvPr id="2" name="text-58">
            <a:extLst xmlns:a="http://schemas.openxmlformats.org/drawingml/2006/main">
              <a:ext uri="{FF2B5EF4-FFF2-40B4-BE49-F238E27FC236}">
                <a16:creationId xmlns:a16="http://schemas.microsoft.com/office/drawing/2014/main" id="{24B52C58-05A8-4ECF-B5B8-B1BD57E2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15075"/>
            <a:ext cx="1047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06  분석·추론 체계</a:t>
            </a:r>
          </a:p>
        </p:txBody>
      </p:sp>
      <p:sp>
        <p:nvSpPr>
          <p:cNvPr id="3" name="text-59">
            <a:extLst xmlns:a="http://schemas.openxmlformats.org/drawingml/2006/main">
              <a:ext uri="{FF2B5EF4-FFF2-40B4-BE49-F238E27FC236}">
                <a16:creationId xmlns:a16="http://schemas.microsoft.com/office/drawing/2014/main" id="{6121EBD0-764A-43BC-B10F-DD3A7AC2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023A5-C84A-4402-ADB5-E338F115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</a:ln>
        </p:spPr>
      </p:sp>
      <p:sp>
        <p:nvSpPr>
          <p:cNvPr id="5" name="text-60">
            <a:extLst xmlns:a="http://schemas.openxmlformats.org/drawingml/2006/main">
              <a:ext uri="{FF2B5EF4-FFF2-40B4-BE49-F238E27FC236}">
                <a16:creationId xmlns:a16="http://schemas.microsoft.com/office/drawing/2014/main" id="{6C462FFF-C2A8-4697-B565-C7200998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01  현황 파악</a:t>
            </a:r>
          </a:p>
        </p:txBody>
      </p:sp>
      <p:sp>
        <p:nvSpPr>
          <p:cNvPr id="6" name="text-61">
            <a:extLst xmlns:a="http://schemas.openxmlformats.org/drawingml/2006/main">
              <a:ext uri="{FF2B5EF4-FFF2-40B4-BE49-F238E27FC236}">
                <a16:creationId xmlns:a16="http://schemas.microsoft.com/office/drawing/2014/main" id="{194BA455-7F30-4BE9-AAB0-21C435E2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000250"/>
            <a:ext cx="8420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조직·직무·거점별 인원과 과제별 Man month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40DCCA-E0A1-4F66-8388-DE5BE7FD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</a:ln>
        </p:spPr>
      </p:sp>
      <p:sp>
        <p:nvSpPr>
          <p:cNvPr id="8" name="text-62">
            <a:extLst xmlns:a="http://schemas.openxmlformats.org/drawingml/2006/main">
              <a:ext uri="{FF2B5EF4-FFF2-40B4-BE49-F238E27FC236}">
                <a16:creationId xmlns:a16="http://schemas.microsoft.com/office/drawing/2014/main" id="{4FBF7226-3D35-4050-9FDA-814672A2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02  변화 분석</a:t>
            </a:r>
          </a:p>
        </p:txBody>
      </p:sp>
      <p:sp>
        <p:nvSpPr>
          <p:cNvPr id="9" name="text-63">
            <a:extLst xmlns:a="http://schemas.openxmlformats.org/drawingml/2006/main">
              <a:ext uri="{FF2B5EF4-FFF2-40B4-BE49-F238E27FC236}">
                <a16:creationId xmlns:a16="http://schemas.microsoft.com/office/drawing/2014/main" id="{61CCA2E6-5C11-4080-9ACB-639AD4DC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781300"/>
            <a:ext cx="8420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채용·퇴사·내부 이동 및 업무량 변화 추적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B9CF4E-B427-4C60-8FD0-A53083B9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</a:ln>
        </p:spPr>
      </p:sp>
      <p:sp>
        <p:nvSpPr>
          <p:cNvPr id="11" name="text-64">
            <a:extLst xmlns:a="http://schemas.openxmlformats.org/drawingml/2006/main">
              <a:ext uri="{FF2B5EF4-FFF2-40B4-BE49-F238E27FC236}">
                <a16:creationId xmlns:a16="http://schemas.microsoft.com/office/drawing/2014/main" id="{C6DE42F9-AF0B-48CB-9B39-D446DE33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6235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03  원인 진단</a:t>
            </a:r>
          </a:p>
        </p:txBody>
      </p:sp>
      <p:sp>
        <p:nvSpPr>
          <p:cNvPr id="12" name="text-65">
            <a:extLst xmlns:a="http://schemas.openxmlformats.org/drawingml/2006/main">
              <a:ext uri="{FF2B5EF4-FFF2-40B4-BE49-F238E27FC236}">
                <a16:creationId xmlns:a16="http://schemas.microsoft.com/office/drawing/2014/main" id="{C1A45299-1B1F-4445-BAC9-669EA997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562350"/>
            <a:ext cx="8420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과제 확대·일정 변경·조직 이동의 기여도 설명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817C0D-6272-4542-9A0E-2C2918C1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</a:ln>
        </p:spPr>
      </p:sp>
      <p:sp>
        <p:nvSpPr>
          <p:cNvPr id="14" name="text-66">
            <a:extLst xmlns:a="http://schemas.openxmlformats.org/drawingml/2006/main">
              <a:ext uri="{FF2B5EF4-FFF2-40B4-BE49-F238E27FC236}">
                <a16:creationId xmlns:a16="http://schemas.microsoft.com/office/drawing/2014/main" id="{F931F425-AFD2-4C2C-8F36-F7B08254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4340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04  수요 예측</a:t>
            </a:r>
          </a:p>
        </p:txBody>
      </p:sp>
      <p:sp>
        <p:nvSpPr>
          <p:cNvPr id="15" name="text-67">
            <a:extLst xmlns:a="http://schemas.openxmlformats.org/drawingml/2006/main">
              <a:ext uri="{FF2B5EF4-FFF2-40B4-BE49-F238E27FC236}">
                <a16:creationId xmlns:a16="http://schemas.microsoft.com/office/drawing/2014/main" id="{EE59D1D9-7BC4-4B5A-8731-3D708DCE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343400"/>
            <a:ext cx="8420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사업계획과 과제별 수요를 가용 공급과 비교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77F2F9-DDD8-4488-9DBF-39967202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</a:ln>
        </p:spPr>
      </p:sp>
      <p:sp>
        <p:nvSpPr>
          <p:cNvPr id="17" name="text-68">
            <a:extLst xmlns:a="http://schemas.openxmlformats.org/drawingml/2006/main">
              <a:ext uri="{FF2B5EF4-FFF2-40B4-BE49-F238E27FC236}">
                <a16:creationId xmlns:a16="http://schemas.microsoft.com/office/drawing/2014/main" id="{60BFA9E5-D4B2-422B-A061-E3FB7C4C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2445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05  배치 최적화</a:t>
            </a:r>
          </a:p>
        </p:txBody>
      </p:sp>
      <p:sp>
        <p:nvSpPr>
          <p:cNvPr id="18" name="text-69">
            <a:extLst xmlns:a="http://schemas.openxmlformats.org/drawingml/2006/main">
              <a:ext uri="{FF2B5EF4-FFF2-40B4-BE49-F238E27FC236}">
                <a16:creationId xmlns:a16="http://schemas.microsoft.com/office/drawing/2014/main" id="{B03EF1AE-5D15-40E1-AD4C-57980F1E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124450"/>
            <a:ext cx="8420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역량·시기·거점 등 제약을 고려한 재배치 대안 제시</a:t>
            </a:r>
          </a:p>
        </p:txBody>
      </p:sp>
    </p:spTree>
    <p:extLst>
      <p:ext uri="{BB962C8B-B14F-4D97-AF65-F5344CB8AC3E}">
        <p14:creationId xmlns:p14="http://schemas.microsoft.com/office/powerpoint/2010/main" val="8591901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70">
            <a:extLst xmlns:a="http://schemas.openxmlformats.org/drawingml/2006/main">
              <a:ext uri="{FF2B5EF4-FFF2-40B4-BE49-F238E27FC236}">
                <a16:creationId xmlns:a16="http://schemas.microsoft.com/office/drawing/2014/main" id="{9C3A1D8E-9018-4DED-9480-D8F76CE9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AI는 승인된 지표로 조회하고 근거를 설명합니다</a:t>
            </a:r>
          </a:p>
        </p:txBody>
      </p:sp>
      <p:sp>
        <p:nvSpPr>
          <p:cNvPr id="2" name="text-71">
            <a:extLst xmlns:a="http://schemas.openxmlformats.org/drawingml/2006/main">
              <a:ext uri="{FF2B5EF4-FFF2-40B4-BE49-F238E27FC236}">
                <a16:creationId xmlns:a16="http://schemas.microsoft.com/office/drawing/2014/main" id="{A6B731B1-48A4-4B14-BB44-7A05B324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15075"/>
            <a:ext cx="1047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07  Workforce AI</a:t>
            </a:r>
          </a:p>
        </p:txBody>
      </p:sp>
      <p:sp>
        <p:nvSpPr>
          <p:cNvPr id="3" name="text-72">
            <a:extLst xmlns:a="http://schemas.openxmlformats.org/drawingml/2006/main">
              <a:ext uri="{FF2B5EF4-FFF2-40B4-BE49-F238E27FC236}">
                <a16:creationId xmlns:a16="http://schemas.microsoft.com/office/drawing/2014/main" id="{65B1FBAD-2A3F-48F8-97A0-218EDF38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4" name="text-73">
            <a:extLst xmlns:a="http://schemas.openxmlformats.org/drawingml/2006/main">
              <a:ext uri="{FF2B5EF4-FFF2-40B4-BE49-F238E27FC236}">
                <a16:creationId xmlns:a16="http://schemas.microsoft.com/office/drawing/2014/main" id="{F2B820CB-038F-42A6-BBAE-6CC34A9D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1391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64C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64C0"/>
                </a:solidFill>
                <a:latin typeface="Apple SD Gothic Neo"/>
                <a:ea typeface="Apple SD Gothic Neo"/>
                <a:cs typeface="Apple SD Gothic Neo"/>
              </a:rPr>
              <a:t>“최근 6개월 인력이 가장 많이 늘어난 조직과 이유는?”</a:t>
            </a:r>
          </a:p>
        </p:txBody>
      </p:sp>
      <p:sp>
        <p:nvSpPr>
          <p:cNvPr id="5" name="text-74">
            <a:extLst xmlns:a="http://schemas.openxmlformats.org/drawingml/2006/main">
              <a:ext uri="{FF2B5EF4-FFF2-40B4-BE49-F238E27FC236}">
                <a16:creationId xmlns:a16="http://schemas.microsoft.com/office/drawing/2014/main" id="{1CFA9493-0CCB-4CCA-8300-2C1172B1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037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질문 해석</a:t>
            </a:r>
          </a:p>
        </p:txBody>
      </p:sp>
      <p:sp>
        <p:nvSpPr>
          <p:cNvPr id="6" name="text-75">
            <a:extLst xmlns:a="http://schemas.openxmlformats.org/drawingml/2006/main">
              <a:ext uri="{FF2B5EF4-FFF2-40B4-BE49-F238E27FC236}">
                <a16:creationId xmlns:a16="http://schemas.microsoft.com/office/drawing/2014/main" id="{F395D3E2-3F7A-4424-A2F2-4956E52A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35623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지표·기간·조직 범위 확정</a:t>
            </a:r>
          </a:p>
        </p:txBody>
      </p:sp>
      <p:sp>
        <p:nvSpPr>
          <p:cNvPr id="7" name="text-76">
            <a:extLst xmlns:a="http://schemas.openxmlformats.org/drawingml/2006/main">
              <a:ext uri="{FF2B5EF4-FFF2-40B4-BE49-F238E27FC236}">
                <a16:creationId xmlns:a16="http://schemas.microsoft.com/office/drawing/2014/main" id="{6E6E0F4A-6CF8-4B9C-9A74-8F713427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0037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권한 내 조회</a:t>
            </a:r>
          </a:p>
        </p:txBody>
      </p:sp>
      <p:sp>
        <p:nvSpPr>
          <p:cNvPr id="8" name="text-77">
            <a:extLst xmlns:a="http://schemas.openxmlformats.org/drawingml/2006/main">
              <a:ext uri="{FF2B5EF4-FFF2-40B4-BE49-F238E27FC236}">
                <a16:creationId xmlns:a16="http://schemas.microsoft.com/office/drawing/2014/main" id="{6CF5A969-F343-4462-844A-99FE1801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638550"/>
            <a:ext cx="35623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공통 지표와 허용된 쿼리 사용</a:t>
            </a:r>
          </a:p>
        </p:txBody>
      </p:sp>
      <p:sp>
        <p:nvSpPr>
          <p:cNvPr id="9" name="text-78">
            <a:extLst xmlns:a="http://schemas.openxmlformats.org/drawingml/2006/main">
              <a:ext uri="{FF2B5EF4-FFF2-40B4-BE49-F238E27FC236}">
                <a16:creationId xmlns:a16="http://schemas.microsoft.com/office/drawing/2014/main" id="{07FEDDC1-E8FE-48C1-BB6E-E95DDD11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037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계산과 설명</a:t>
            </a:r>
          </a:p>
        </p:txBody>
      </p:sp>
      <p:sp>
        <p:nvSpPr>
          <p:cNvPr id="10" name="text-79">
            <a:extLst xmlns:a="http://schemas.openxmlformats.org/drawingml/2006/main">
              <a:ext uri="{FF2B5EF4-FFF2-40B4-BE49-F238E27FC236}">
                <a16:creationId xmlns:a16="http://schemas.microsoft.com/office/drawing/2014/main" id="{E4054306-5C79-4D86-89CC-70C96FF0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38550"/>
            <a:ext cx="35623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증감·기여도 계산 후 근거 제시</a:t>
            </a:r>
          </a:p>
        </p:txBody>
      </p:sp>
      <p:sp>
        <p:nvSpPr>
          <p:cNvPr id="11" name="text-80">
            <a:extLst xmlns:a="http://schemas.openxmlformats.org/drawingml/2006/main">
              <a:ext uri="{FF2B5EF4-FFF2-40B4-BE49-F238E27FC236}">
                <a16:creationId xmlns:a16="http://schemas.microsoft.com/office/drawing/2014/main" id="{72D89616-E2A1-4C66-82CE-0D0023E5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1391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답변에 기준 시점 · 지표 정의 · 데이터 출처 · 추정 가정을 함께 표시</a:t>
            </a:r>
          </a:p>
        </p:txBody>
      </p:sp>
    </p:spTree>
    <p:extLst>
      <p:ext uri="{BB962C8B-B14F-4D97-AF65-F5344CB8AC3E}">
        <p14:creationId xmlns:p14="http://schemas.microsoft.com/office/powerpoint/2010/main" val="4653372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81">
            <a:extLst xmlns:a="http://schemas.openxmlformats.org/drawingml/2006/main">
              <a:ext uri="{FF2B5EF4-FFF2-40B4-BE49-F238E27FC236}">
                <a16:creationId xmlns:a16="http://schemas.microsoft.com/office/drawing/2014/main" id="{C5CD93B6-B3A2-40B6-83D0-EEC29848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시나리오별 사업 영향과 실행 대안을 비교합니다</a:t>
            </a:r>
          </a:p>
        </p:txBody>
      </p:sp>
      <p:sp>
        <p:nvSpPr>
          <p:cNvPr id="2" name="text-82">
            <a:extLst xmlns:a="http://schemas.openxmlformats.org/drawingml/2006/main">
              <a:ext uri="{FF2B5EF4-FFF2-40B4-BE49-F238E27FC236}">
                <a16:creationId xmlns:a16="http://schemas.microsoft.com/office/drawing/2014/main" id="{5D3277CB-4812-4FA7-94E9-27FB77B0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15075"/>
            <a:ext cx="1047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08  시뮬레이션</a:t>
            </a:r>
          </a:p>
        </p:txBody>
      </p:sp>
      <p:sp>
        <p:nvSpPr>
          <p:cNvPr id="3" name="text-83">
            <a:extLst xmlns:a="http://schemas.openxmlformats.org/drawingml/2006/main">
              <a:ext uri="{FF2B5EF4-FFF2-40B4-BE49-F238E27FC236}">
                <a16:creationId xmlns:a16="http://schemas.microsoft.com/office/drawing/2014/main" id="{C0050183-343C-424B-A5C1-A26F2D6D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4" name="text-84">
            <a:extLst xmlns:a="http://schemas.openxmlformats.org/drawingml/2006/main">
              <a:ext uri="{FF2B5EF4-FFF2-40B4-BE49-F238E27FC236}">
                <a16:creationId xmlns:a16="http://schemas.microsoft.com/office/drawing/2014/main" id="{5EDE8ED0-78AB-45AC-9874-4F691D89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입력: 규모·일정·우선순위  →  산출: 역량별 부족량·원가·일정 위험</a:t>
            </a:r>
          </a:p>
        </p:txBody>
      </p:sp>
      <p:sp>
        <p:nvSpPr>
          <p:cNvPr id="5" name="text-85">
            <a:extLst xmlns:a="http://schemas.openxmlformats.org/drawingml/2006/main">
              <a:ext uri="{FF2B5EF4-FFF2-40B4-BE49-F238E27FC236}">
                <a16:creationId xmlns:a16="http://schemas.microsoft.com/office/drawing/2014/main" id="{C82FE6B1-52D0-40F9-8AB1-2D631879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9087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인력 규모 조정</a:t>
            </a:r>
          </a:p>
        </p:txBody>
      </p:sp>
      <p:sp>
        <p:nvSpPr>
          <p:cNvPr id="6" name="text-86">
            <a:extLst xmlns:a="http://schemas.openxmlformats.org/drawingml/2006/main">
              <a:ext uri="{FF2B5EF4-FFF2-40B4-BE49-F238E27FC236}">
                <a16:creationId xmlns:a16="http://schemas.microsoft.com/office/drawing/2014/main" id="{82369EEC-24EE-4CAA-A34A-55D7BEF7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35623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인원 3% 감소 시</a:t>
            </a:r>
          </a:p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기간별 공급 감소와</a:t>
            </a:r>
          </a:p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과제 일정 위험 비교</a:t>
            </a:r>
          </a:p>
        </p:txBody>
      </p:sp>
      <p:sp>
        <p:nvSpPr>
          <p:cNvPr id="7" name="text-87">
            <a:extLst xmlns:a="http://schemas.openxmlformats.org/drawingml/2006/main">
              <a:ext uri="{FF2B5EF4-FFF2-40B4-BE49-F238E27FC236}">
                <a16:creationId xmlns:a16="http://schemas.microsoft.com/office/drawing/2014/main" id="{FA67A3F9-DA64-4F3A-A893-FEED6C85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9087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AI 과제 확대</a:t>
            </a:r>
          </a:p>
        </p:txBody>
      </p:sp>
      <p:sp>
        <p:nvSpPr>
          <p:cNvPr id="8" name="text-88">
            <a:extLst xmlns:a="http://schemas.openxmlformats.org/drawingml/2006/main">
              <a:ext uri="{FF2B5EF4-FFF2-40B4-BE49-F238E27FC236}">
                <a16:creationId xmlns:a16="http://schemas.microsoft.com/office/drawing/2014/main" id="{5E63515F-5E43-4892-9D99-F32D6570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829050"/>
            <a:ext cx="35623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AI 과제 30% 확대 시</a:t>
            </a:r>
          </a:p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역량별 필요 Man month와</a:t>
            </a:r>
          </a:p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충원 방식 비교</a:t>
            </a:r>
          </a:p>
        </p:txBody>
      </p:sp>
      <p:sp>
        <p:nvSpPr>
          <p:cNvPr id="9" name="text-89">
            <a:extLst xmlns:a="http://schemas.openxmlformats.org/drawingml/2006/main">
              <a:ext uri="{FF2B5EF4-FFF2-40B4-BE49-F238E27FC236}">
                <a16:creationId xmlns:a16="http://schemas.microsoft.com/office/drawing/2014/main" id="{49C9C031-BEB9-4EEE-A5A8-34C26C93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9087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과제 일정 지연</a:t>
            </a:r>
          </a:p>
        </p:txBody>
      </p:sp>
      <p:sp>
        <p:nvSpPr>
          <p:cNvPr id="10" name="text-90">
            <a:extLst xmlns:a="http://schemas.openxmlformats.org/drawingml/2006/main">
              <a:ext uri="{FF2B5EF4-FFF2-40B4-BE49-F238E27FC236}">
                <a16:creationId xmlns:a16="http://schemas.microsoft.com/office/drawing/2014/main" id="{E16B6B94-D234-4D71-971D-10E1B0B3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29050"/>
            <a:ext cx="35623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과제 3개월 지연 시</a:t>
            </a:r>
          </a:p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후속 투입·재배치·원가에</a:t>
            </a:r>
          </a:p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미치는 영향 확인</a:t>
            </a:r>
          </a:p>
        </p:txBody>
      </p:sp>
    </p:spTree>
    <p:extLst>
      <p:ext uri="{BB962C8B-B14F-4D97-AF65-F5344CB8AC3E}">
        <p14:creationId xmlns:p14="http://schemas.microsoft.com/office/powerpoint/2010/main" val="11518348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91">
            <a:extLst xmlns:a="http://schemas.openxmlformats.org/drawingml/2006/main">
              <a:ext uri="{FF2B5EF4-FFF2-40B4-BE49-F238E27FC236}">
                <a16:creationId xmlns:a16="http://schemas.microsoft.com/office/drawing/2014/main" id="{84097281-411F-4203-98D7-4653792F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종료 과제의 여력을 신규 과제와 연결합니다</a:t>
            </a:r>
          </a:p>
        </p:txBody>
      </p:sp>
      <p:sp>
        <p:nvSpPr>
          <p:cNvPr id="2" name="text-92">
            <a:extLst xmlns:a="http://schemas.openxmlformats.org/drawingml/2006/main">
              <a:ext uri="{FF2B5EF4-FFF2-40B4-BE49-F238E27FC236}">
                <a16:creationId xmlns:a16="http://schemas.microsoft.com/office/drawing/2014/main" id="{61BA9371-5A87-447F-8E04-FC3DBD69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15075"/>
            <a:ext cx="1047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09  활용 사례 · 설명용 가정</a:t>
            </a:r>
          </a:p>
        </p:txBody>
      </p:sp>
      <p:sp>
        <p:nvSpPr>
          <p:cNvPr id="3" name="text-93">
            <a:extLst xmlns:a="http://schemas.openxmlformats.org/drawingml/2006/main">
              <a:ext uri="{FF2B5EF4-FFF2-40B4-BE49-F238E27FC236}">
                <a16:creationId xmlns:a16="http://schemas.microsoft.com/office/drawing/2014/main" id="{875B0555-8347-4536-8829-C70C0680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4" name="text-94">
            <a:extLst xmlns:a="http://schemas.openxmlformats.org/drawingml/2006/main">
              <a:ext uri="{FF2B5EF4-FFF2-40B4-BE49-F238E27FC236}">
                <a16:creationId xmlns:a16="http://schemas.microsoft.com/office/drawing/2014/main" id="{2898CB3F-08D6-4D2E-898F-A41333F4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분석 기간: 2027년 7–9월 · 역량: RTL · 계획 투입량</a:t>
            </a:r>
          </a:p>
        </p:txBody>
      </p:sp>
      <p:sp>
        <p:nvSpPr>
          <p:cNvPr id="5" name="text-95">
            <a:extLst xmlns:a="http://schemas.openxmlformats.org/drawingml/2006/main">
              <a:ext uri="{FF2B5EF4-FFF2-40B4-BE49-F238E27FC236}">
                <a16:creationId xmlns:a16="http://schemas.microsoft.com/office/drawing/2014/main" id="{28406454-67A6-42BE-BBE3-C005B77A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38400"/>
            <a:ext cx="35623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90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72</a:t>
            </a:r>
          </a:p>
        </p:txBody>
      </p:sp>
      <p:sp>
        <p:nvSpPr>
          <p:cNvPr id="6" name="text-96">
            <a:extLst xmlns:a="http://schemas.openxmlformats.org/drawingml/2006/main">
              <a:ext uri="{FF2B5EF4-FFF2-40B4-BE49-F238E27FC236}">
                <a16:creationId xmlns:a16="http://schemas.microsoft.com/office/drawing/2014/main" id="{DA03F3B6-9962-4F86-9713-C505ABD6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Man month 가용</a:t>
            </a:r>
          </a:p>
        </p:txBody>
      </p:sp>
      <p:sp>
        <p:nvSpPr>
          <p:cNvPr id="7" name="text-97">
            <a:extLst xmlns:a="http://schemas.openxmlformats.org/drawingml/2006/main">
              <a:ext uri="{FF2B5EF4-FFF2-40B4-BE49-F238E27FC236}">
                <a16:creationId xmlns:a16="http://schemas.microsoft.com/office/drawing/2014/main" id="{057DAAAD-CD5C-47C9-BB27-2ADB6F3C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76725"/>
            <a:ext cx="35623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종료 과제 인력 24명</a:t>
            </a:r>
          </a:p>
          <a:p xmlns:a="http://schemas.openxmlformats.org/drawingml/2006/main">
            <a:pPr>
              <a:defRPr sz="187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× 3개월 × 가용률 100%</a:t>
            </a:r>
          </a:p>
        </p:txBody>
      </p:sp>
      <p:sp>
        <p:nvSpPr>
          <p:cNvPr id="8" name="text-98">
            <a:extLst xmlns:a="http://schemas.openxmlformats.org/drawingml/2006/main">
              <a:ext uri="{FF2B5EF4-FFF2-40B4-BE49-F238E27FC236}">
                <a16:creationId xmlns:a16="http://schemas.microsoft.com/office/drawing/2014/main" id="{D0898557-F328-407C-ACA9-B43FECFE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438400"/>
            <a:ext cx="35623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90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54</a:t>
            </a:r>
          </a:p>
        </p:txBody>
      </p:sp>
      <p:sp>
        <p:nvSpPr>
          <p:cNvPr id="9" name="text-99">
            <a:extLst xmlns:a="http://schemas.openxmlformats.org/drawingml/2006/main">
              <a:ext uri="{FF2B5EF4-FFF2-40B4-BE49-F238E27FC236}">
                <a16:creationId xmlns:a16="http://schemas.microsoft.com/office/drawing/2014/main" id="{CEEDE5A7-C402-44E1-B350-8055239F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657600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Man month 필요</a:t>
            </a:r>
          </a:p>
        </p:txBody>
      </p:sp>
      <p:sp>
        <p:nvSpPr>
          <p:cNvPr id="10" name="text-100">
            <a:extLst xmlns:a="http://schemas.openxmlformats.org/drawingml/2006/main">
              <a:ext uri="{FF2B5EF4-FFF2-40B4-BE49-F238E27FC236}">
                <a16:creationId xmlns:a16="http://schemas.microsoft.com/office/drawing/2014/main" id="{A7D0B894-6DD3-47B3-84EC-03CF70B6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276725"/>
            <a:ext cx="35623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신규 과제 인력 18명</a:t>
            </a:r>
          </a:p>
          <a:p xmlns:a="http://schemas.openxmlformats.org/drawingml/2006/main">
            <a:pPr>
              <a:defRPr sz="187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× 3개월 × 투입률 100%</a:t>
            </a:r>
          </a:p>
        </p:txBody>
      </p:sp>
      <p:sp>
        <p:nvSpPr>
          <p:cNvPr id="11" name="text-101">
            <a:extLst xmlns:a="http://schemas.openxmlformats.org/drawingml/2006/main">
              <a:ext uri="{FF2B5EF4-FFF2-40B4-BE49-F238E27FC236}">
                <a16:creationId xmlns:a16="http://schemas.microsoft.com/office/drawing/2014/main" id="{72A39327-2791-4F52-B640-DF77B87C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38400"/>
            <a:ext cx="35623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1764C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900" b="1">
                <a:solidFill>
                  <a:srgbClr val="1764C0"/>
                </a:solidFill>
                <a:latin typeface="Apple SD Gothic Neo"/>
                <a:ea typeface="Apple SD Gothic Neo"/>
                <a:cs typeface="Apple SD Gothic Neo"/>
              </a:rPr>
              <a:t>42</a:t>
            </a:r>
          </a:p>
        </p:txBody>
      </p:sp>
      <p:sp>
        <p:nvSpPr>
          <p:cNvPr id="12" name="text-102">
            <a:extLst xmlns:a="http://schemas.openxmlformats.org/drawingml/2006/main">
              <a:ext uri="{FF2B5EF4-FFF2-40B4-BE49-F238E27FC236}">
                <a16:creationId xmlns:a16="http://schemas.microsoft.com/office/drawing/2014/main" id="{2E767993-15E5-41B1-86CB-A70262F9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57600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Man month 매칭</a:t>
            </a:r>
          </a:p>
        </p:txBody>
      </p:sp>
      <p:sp>
        <p:nvSpPr>
          <p:cNvPr id="13" name="text-103">
            <a:extLst xmlns:a="http://schemas.openxmlformats.org/drawingml/2006/main">
              <a:ext uri="{FF2B5EF4-FFF2-40B4-BE49-F238E27FC236}">
                <a16:creationId xmlns:a16="http://schemas.microsoft.com/office/drawing/2014/main" id="{A659B7D5-09DF-4B91-8529-EEDAE074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76725"/>
            <a:ext cx="35623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역량·일정 적합 인력 14명</a:t>
            </a:r>
          </a:p>
          <a:p xmlns:a="http://schemas.openxmlformats.org/drawingml/2006/main">
            <a:pPr>
              <a:defRPr sz="187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× 3개월 × 투입률 100%</a:t>
            </a:r>
          </a:p>
        </p:txBody>
      </p:sp>
      <p:sp>
        <p:nvSpPr>
          <p:cNvPr id="14" name="text-104">
            <a:extLst xmlns:a="http://schemas.openxmlformats.org/drawingml/2006/main">
              <a:ext uri="{FF2B5EF4-FFF2-40B4-BE49-F238E27FC236}">
                <a16:creationId xmlns:a16="http://schemas.microsoft.com/office/drawing/2014/main" id="{18CA2512-5E27-44E6-B48E-7ABD9CA6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1391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남은 수요 12 Man month → 추가 내부 매칭·교육·채용 대안 검토</a:t>
            </a:r>
          </a:p>
        </p:txBody>
      </p:sp>
    </p:spTree>
    <p:extLst>
      <p:ext uri="{BB962C8B-B14F-4D97-AF65-F5344CB8AC3E}">
        <p14:creationId xmlns:p14="http://schemas.microsoft.com/office/powerpoint/2010/main" val="12048950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105">
            <a:extLst xmlns:a="http://schemas.openxmlformats.org/drawingml/2006/main">
              <a:ext uri="{FF2B5EF4-FFF2-40B4-BE49-F238E27FC236}">
                <a16:creationId xmlns:a16="http://schemas.microsoft.com/office/drawing/2014/main" id="{A5273130-3ED7-4AD6-83F1-4853B328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화면은 리더의 질문과 의사결정 흐름에 맞춥니다</a:t>
            </a:r>
          </a:p>
        </p:txBody>
      </p:sp>
      <p:sp>
        <p:nvSpPr>
          <p:cNvPr id="2" name="text-106">
            <a:extLst xmlns:a="http://schemas.openxmlformats.org/drawingml/2006/main">
              <a:ext uri="{FF2B5EF4-FFF2-40B4-BE49-F238E27FC236}">
                <a16:creationId xmlns:a16="http://schemas.microsoft.com/office/drawing/2014/main" id="{76D35F8D-7CD9-4703-B5DC-1127AA52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15075"/>
            <a:ext cx="1047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10  핵심 사용자 경험</a:t>
            </a:r>
          </a:p>
        </p:txBody>
      </p:sp>
      <p:sp>
        <p:nvSpPr>
          <p:cNvPr id="3" name="text-107">
            <a:extLst xmlns:a="http://schemas.openxmlformats.org/drawingml/2006/main">
              <a:ext uri="{FF2B5EF4-FFF2-40B4-BE49-F238E27FC236}">
                <a16:creationId xmlns:a16="http://schemas.microsoft.com/office/drawing/2014/main" id="{E053DD94-AEDD-419A-B407-CF0F42B6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167CD-0536-4E8E-BF32-505DDEB1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</a:ln>
        </p:spPr>
      </p:sp>
      <p:sp>
        <p:nvSpPr>
          <p:cNvPr id="5" name="text-108">
            <a:extLst xmlns:a="http://schemas.openxmlformats.org/drawingml/2006/main">
              <a:ext uri="{FF2B5EF4-FFF2-40B4-BE49-F238E27FC236}">
                <a16:creationId xmlns:a16="http://schemas.microsoft.com/office/drawing/2014/main" id="{05AFF76F-32E8-4779-8488-BE340AB0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전사 현황</a:t>
            </a:r>
          </a:p>
        </p:txBody>
      </p:sp>
      <p:sp>
        <p:nvSpPr>
          <p:cNvPr id="6" name="text-109">
            <a:extLst xmlns:a="http://schemas.openxmlformats.org/drawingml/2006/main">
              <a:ext uri="{FF2B5EF4-FFF2-40B4-BE49-F238E27FC236}">
                <a16:creationId xmlns:a16="http://schemas.microsoft.com/office/drawing/2014/main" id="{E88E1B2E-D6D4-4C66-B5BC-B23A6064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000250"/>
            <a:ext cx="8420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Command Center: 인원·투입량·근로시간·채용 현황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81614-A73D-477E-8CB1-13C77938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</a:ln>
        </p:spPr>
      </p:sp>
      <p:sp>
        <p:nvSpPr>
          <p:cNvPr id="8" name="text-110">
            <a:extLst xmlns:a="http://schemas.openxmlformats.org/drawingml/2006/main">
              <a:ext uri="{FF2B5EF4-FFF2-40B4-BE49-F238E27FC236}">
                <a16:creationId xmlns:a16="http://schemas.microsoft.com/office/drawing/2014/main" id="{90B254DB-0B9E-4DF7-8931-DE684753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조직·역량 탐색</a:t>
            </a:r>
          </a:p>
        </p:txBody>
      </p:sp>
      <p:sp>
        <p:nvSpPr>
          <p:cNvPr id="9" name="text-111">
            <a:extLst xmlns:a="http://schemas.openxmlformats.org/drawingml/2006/main">
              <a:ext uri="{FF2B5EF4-FFF2-40B4-BE49-F238E27FC236}">
                <a16:creationId xmlns:a16="http://schemas.microsoft.com/office/drawing/2014/main" id="{DCB74CE1-8EB8-4E78-BC7F-BF418316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781300"/>
            <a:ext cx="8420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Organization Explorer / Workforce Map / Skill 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0D806A-D30F-4B62-8040-2D3A64B3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</a:ln>
        </p:spPr>
      </p:sp>
      <p:sp>
        <p:nvSpPr>
          <p:cNvPr id="11" name="text-112">
            <a:extLst xmlns:a="http://schemas.openxmlformats.org/drawingml/2006/main">
              <a:ext uri="{FF2B5EF4-FFF2-40B4-BE49-F238E27FC236}">
                <a16:creationId xmlns:a16="http://schemas.microsoft.com/office/drawing/2014/main" id="{2C61780A-7A92-487F-A998-8C199753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6235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과제·이동 분석</a:t>
            </a:r>
          </a:p>
        </p:txBody>
      </p:sp>
      <p:sp>
        <p:nvSpPr>
          <p:cNvPr id="12" name="text-113">
            <a:extLst xmlns:a="http://schemas.openxmlformats.org/drawingml/2006/main">
              <a:ext uri="{FF2B5EF4-FFF2-40B4-BE49-F238E27FC236}">
                <a16:creationId xmlns:a16="http://schemas.microsoft.com/office/drawing/2014/main" id="{DE0ABA01-E4BC-4E0F-A511-9F024C38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562350"/>
            <a:ext cx="8420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Project Workforce / Workforce Flow: 투입·종료·이동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7D95BE-0BDC-4E7B-A308-BA26E335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</a:ln>
        </p:spPr>
      </p:sp>
      <p:sp>
        <p:nvSpPr>
          <p:cNvPr id="14" name="text-114">
            <a:extLst xmlns:a="http://schemas.openxmlformats.org/drawingml/2006/main">
              <a:ext uri="{FF2B5EF4-FFF2-40B4-BE49-F238E27FC236}">
                <a16:creationId xmlns:a16="http://schemas.microsoft.com/office/drawing/2014/main" id="{E2F56937-783D-416D-B781-064F4280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4340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미래 계획</a:t>
            </a:r>
          </a:p>
        </p:txBody>
      </p:sp>
      <p:sp>
        <p:nvSpPr>
          <p:cNvPr id="15" name="text-115">
            <a:extLst xmlns:a="http://schemas.openxmlformats.org/drawingml/2006/main">
              <a:ext uri="{FF2B5EF4-FFF2-40B4-BE49-F238E27FC236}">
                <a16:creationId xmlns:a16="http://schemas.microsoft.com/office/drawing/2014/main" id="{5FB3F20D-80C1-4F82-98B4-34F6FAE6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343400"/>
            <a:ext cx="8420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Forecast / Scenario Planning: 수요·공급·대안 비교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1FB7DC-9F02-4CF6-9E94-F2554754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</a:ln>
        </p:spPr>
      </p:sp>
      <p:sp>
        <p:nvSpPr>
          <p:cNvPr id="17" name="text-116">
            <a:extLst xmlns:a="http://schemas.openxmlformats.org/drawingml/2006/main">
              <a:ext uri="{FF2B5EF4-FFF2-40B4-BE49-F238E27FC236}">
                <a16:creationId xmlns:a16="http://schemas.microsoft.com/office/drawing/2014/main" id="{9E283FFD-E3CF-4A23-B9F7-C422D524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2445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자연어 질의</a:t>
            </a:r>
          </a:p>
        </p:txBody>
      </p:sp>
      <p:sp>
        <p:nvSpPr>
          <p:cNvPr id="18" name="text-117">
            <a:extLst xmlns:a="http://schemas.openxmlformats.org/drawingml/2006/main">
              <a:ext uri="{FF2B5EF4-FFF2-40B4-BE49-F238E27FC236}">
                <a16:creationId xmlns:a16="http://schemas.microsoft.com/office/drawing/2014/main" id="{0C420C34-D5B2-439B-9693-5C569774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124450"/>
            <a:ext cx="8420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Ask Workforce AI: 질문 → 근거 확인 → 추가 분석</a:t>
            </a:r>
          </a:p>
        </p:txBody>
      </p:sp>
    </p:spTree>
    <p:extLst>
      <p:ext uri="{BB962C8B-B14F-4D97-AF65-F5344CB8AC3E}">
        <p14:creationId xmlns:p14="http://schemas.microsoft.com/office/powerpoint/2010/main" val="1551754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18">
            <a:extLst xmlns:a="http://schemas.openxmlformats.org/drawingml/2006/main">
              <a:ext uri="{FF2B5EF4-FFF2-40B4-BE49-F238E27FC236}">
                <a16:creationId xmlns:a16="http://schemas.microsoft.com/office/drawing/2014/main" id="{FD72FEAA-2B68-457F-9987-2CBBA73E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권한·지표·추천 근거를 일관되게 통제합니다</a:t>
            </a:r>
          </a:p>
        </p:txBody>
      </p:sp>
      <p:sp>
        <p:nvSpPr>
          <p:cNvPr id="2" name="text-119">
            <a:extLst xmlns:a="http://schemas.openxmlformats.org/drawingml/2006/main">
              <a:ext uri="{FF2B5EF4-FFF2-40B4-BE49-F238E27FC236}">
                <a16:creationId xmlns:a16="http://schemas.microsoft.com/office/drawing/2014/main" id="{C025DD1F-5591-4225-AAF7-8666850A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15075"/>
            <a:ext cx="1047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11  보안 및 운영 원칙</a:t>
            </a:r>
          </a:p>
        </p:txBody>
      </p:sp>
      <p:sp>
        <p:nvSpPr>
          <p:cNvPr id="3" name="text-120">
            <a:extLst xmlns:a="http://schemas.openxmlformats.org/drawingml/2006/main">
              <a:ext uri="{FF2B5EF4-FFF2-40B4-BE49-F238E27FC236}">
                <a16:creationId xmlns:a16="http://schemas.microsoft.com/office/drawing/2014/main" id="{A27DA1B2-F6FF-439B-B64F-C7D2D90E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4" name="text-121">
            <a:extLst xmlns:a="http://schemas.openxmlformats.org/drawingml/2006/main">
              <a:ext uri="{FF2B5EF4-FFF2-40B4-BE49-F238E27FC236}">
                <a16:creationId xmlns:a16="http://schemas.microsoft.com/office/drawing/2014/main" id="{25666058-3243-4937-B85C-61375185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41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권한은 조직과 역할 기준</a:t>
            </a:r>
          </a:p>
        </p:txBody>
      </p:sp>
      <p:sp>
        <p:nvSpPr>
          <p:cNvPr id="5" name="text-122">
            <a:extLst xmlns:a="http://schemas.openxmlformats.org/drawingml/2006/main">
              <a:ext uri="{FF2B5EF4-FFF2-40B4-BE49-F238E27FC236}">
                <a16:creationId xmlns:a16="http://schemas.microsoft.com/office/drawing/2014/main" id="{E76DA2B5-3431-483B-A7AA-10A8C2E0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38425"/>
            <a:ext cx="5410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경영진·사업부장·팀장·HR별 범위 적용</a:t>
            </a:r>
          </a:p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조회와 AI 응답에 같은 권한 반영</a:t>
            </a:r>
          </a:p>
        </p:txBody>
      </p:sp>
      <p:sp>
        <p:nvSpPr>
          <p:cNvPr id="6" name="text-123">
            <a:extLst xmlns:a="http://schemas.openxmlformats.org/drawingml/2006/main">
              <a:ext uri="{FF2B5EF4-FFF2-40B4-BE49-F238E27FC236}">
                <a16:creationId xmlns:a16="http://schemas.microsoft.com/office/drawing/2014/main" id="{D0D40093-D47E-451A-B694-F6F83A24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00250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민감정보 활용 제한</a:t>
            </a:r>
          </a:p>
        </p:txBody>
      </p:sp>
      <p:sp>
        <p:nvSpPr>
          <p:cNvPr id="7" name="text-124">
            <a:extLst xmlns:a="http://schemas.openxmlformats.org/drawingml/2006/main">
              <a:ext uri="{FF2B5EF4-FFF2-40B4-BE49-F238E27FC236}">
                <a16:creationId xmlns:a16="http://schemas.microsoft.com/office/drawing/2014/main" id="{D9C7BB91-C392-4AC7-B837-F34F2D80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38425"/>
            <a:ext cx="552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조직·직군·역량군 집계를 기본으로</a:t>
            </a:r>
          </a:p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개인 평가·보상 등 직접 노출 제한</a:t>
            </a:r>
          </a:p>
        </p:txBody>
      </p:sp>
      <p:sp>
        <p:nvSpPr>
          <p:cNvPr id="8" name="text-125">
            <a:extLst xmlns:a="http://schemas.openxmlformats.org/drawingml/2006/main">
              <a:ext uri="{FF2B5EF4-FFF2-40B4-BE49-F238E27FC236}">
                <a16:creationId xmlns:a16="http://schemas.microsoft.com/office/drawing/2014/main" id="{27094727-DBA8-4180-A3D7-6EE4302A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541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지표 정의와 책임 통일</a:t>
            </a:r>
          </a:p>
        </p:txBody>
      </p:sp>
      <p:sp>
        <p:nvSpPr>
          <p:cNvPr id="9" name="text-126">
            <a:extLst xmlns:a="http://schemas.openxmlformats.org/drawingml/2006/main">
              <a:ext uri="{FF2B5EF4-FFF2-40B4-BE49-F238E27FC236}">
                <a16:creationId xmlns:a16="http://schemas.microsoft.com/office/drawing/2014/main" id="{FBA5EC11-6D62-4EB6-AD2D-437C5251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5410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인원·Man month·이동·퇴사 정의 확정</a:t>
            </a:r>
          </a:p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데이터 소유 부서가 품질과 변경 관리</a:t>
            </a:r>
          </a:p>
        </p:txBody>
      </p:sp>
      <p:sp>
        <p:nvSpPr>
          <p:cNvPr id="10" name="text-127">
            <a:extLst xmlns:a="http://schemas.openxmlformats.org/drawingml/2006/main">
              <a:ext uri="{FF2B5EF4-FFF2-40B4-BE49-F238E27FC236}">
                <a16:creationId xmlns:a16="http://schemas.microsoft.com/office/drawing/2014/main" id="{DAE08CE7-08E5-44E9-93DA-727C230E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76700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판단은 리더가 승인</a:t>
            </a:r>
          </a:p>
        </p:txBody>
      </p:sp>
      <p:sp>
        <p:nvSpPr>
          <p:cNvPr id="11" name="text-128">
            <a:extLst xmlns:a="http://schemas.openxmlformats.org/drawingml/2006/main">
              <a:ext uri="{FF2B5EF4-FFF2-40B4-BE49-F238E27FC236}">
                <a16:creationId xmlns:a16="http://schemas.microsoft.com/office/drawing/2014/main" id="{D142DC09-7E98-4EEB-9E3E-569BD9FE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14875"/>
            <a:ext cx="552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추천의 근거·가정·제약을 확인하고</a:t>
            </a:r>
          </a:p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인력 배치 실행은 책임자가 결정</a:t>
            </a:r>
          </a:p>
        </p:txBody>
      </p:sp>
    </p:spTree>
    <p:extLst>
      <p:ext uri="{BB962C8B-B14F-4D97-AF65-F5344CB8AC3E}">
        <p14:creationId xmlns:p14="http://schemas.microsoft.com/office/powerpoint/2010/main" val="9999651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129">
            <a:extLst xmlns:a="http://schemas.openxmlformats.org/drawingml/2006/main">
              <a:ext uri="{FF2B5EF4-FFF2-40B4-BE49-F238E27FC236}">
                <a16:creationId xmlns:a16="http://schemas.microsoft.com/office/drawing/2014/main" id="{451D6C82-963D-4602-B578-9E30D292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MVP부터 검증하며 기능과 데이터를 확장합니다</a:t>
            </a:r>
          </a:p>
        </p:txBody>
      </p:sp>
      <p:sp>
        <p:nvSpPr>
          <p:cNvPr id="2" name="text-130">
            <a:extLst xmlns:a="http://schemas.openxmlformats.org/drawingml/2006/main">
              <a:ext uri="{FF2B5EF4-FFF2-40B4-BE49-F238E27FC236}">
                <a16:creationId xmlns:a16="http://schemas.microsoft.com/office/drawing/2014/main" id="{36F20ED3-3F8B-4B42-9C9D-FF0E6ADE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15075"/>
            <a:ext cx="1047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12  단계별 구축</a:t>
            </a:r>
          </a:p>
        </p:txBody>
      </p:sp>
      <p:sp>
        <p:nvSpPr>
          <p:cNvPr id="3" name="text-131">
            <a:extLst xmlns:a="http://schemas.openxmlformats.org/drawingml/2006/main">
              <a:ext uri="{FF2B5EF4-FFF2-40B4-BE49-F238E27FC236}">
                <a16:creationId xmlns:a16="http://schemas.microsoft.com/office/drawing/2014/main" id="{1C74FF77-6209-4FB6-ABE0-9A303BCB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CCF82-50EC-4F91-938D-816C0F33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</a:ln>
        </p:spPr>
      </p:sp>
      <p:sp>
        <p:nvSpPr>
          <p:cNvPr id="5" name="text-132">
            <a:extLst xmlns:a="http://schemas.openxmlformats.org/drawingml/2006/main">
              <a:ext uri="{FF2B5EF4-FFF2-40B4-BE49-F238E27FC236}">
                <a16:creationId xmlns:a16="http://schemas.microsoft.com/office/drawing/2014/main" id="{47CB0505-7CAC-4C90-9FFF-ABF8956A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1  현황 기반</a:t>
            </a:r>
          </a:p>
        </p:txBody>
      </p:sp>
      <p:sp>
        <p:nvSpPr>
          <p:cNvPr id="6" name="text-133">
            <a:extLst xmlns:a="http://schemas.openxmlformats.org/drawingml/2006/main">
              <a:ext uri="{FF2B5EF4-FFF2-40B4-BE49-F238E27FC236}">
                <a16:creationId xmlns:a16="http://schemas.microsoft.com/office/drawing/2014/main" id="{BAF126F1-8C74-42ED-B5D8-EDEEA6AC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000250"/>
            <a:ext cx="8420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인력·조직·직무·근태·시점 이력 구축  |  원안 예시 3–4개월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F1D821-C92C-49E5-997F-F9A56369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</a:ln>
        </p:spPr>
      </p:sp>
      <p:sp>
        <p:nvSpPr>
          <p:cNvPr id="8" name="text-134">
            <a:extLst xmlns:a="http://schemas.openxmlformats.org/drawingml/2006/main">
              <a:ext uri="{FF2B5EF4-FFF2-40B4-BE49-F238E27FC236}">
                <a16:creationId xmlns:a16="http://schemas.microsoft.com/office/drawing/2014/main" id="{295828A0-C9B5-4901-90C0-CD264512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2  과제 연결</a:t>
            </a:r>
          </a:p>
        </p:txBody>
      </p:sp>
      <p:sp>
        <p:nvSpPr>
          <p:cNvPr id="9" name="text-135">
            <a:extLst xmlns:a="http://schemas.openxmlformats.org/drawingml/2006/main">
              <a:ext uri="{FF2B5EF4-FFF2-40B4-BE49-F238E27FC236}">
                <a16:creationId xmlns:a16="http://schemas.microsoft.com/office/drawing/2014/main" id="{3FA668E6-DB05-45C3-AB76-EA25497F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781300"/>
            <a:ext cx="8420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과제·배치·Man month 연결  |  역량 데이터 확장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D83E5-1791-457C-AF75-6C5377A6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</a:ln>
        </p:spPr>
      </p:sp>
      <p:sp>
        <p:nvSpPr>
          <p:cNvPr id="11" name="text-136">
            <a:extLst xmlns:a="http://schemas.openxmlformats.org/drawingml/2006/main">
              <a:ext uri="{FF2B5EF4-FFF2-40B4-BE49-F238E27FC236}">
                <a16:creationId xmlns:a16="http://schemas.microsoft.com/office/drawing/2014/main" id="{4F039272-D71B-4BCB-BFEE-9CB4EB5F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6235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3  지능화</a:t>
            </a:r>
          </a:p>
        </p:txBody>
      </p:sp>
      <p:sp>
        <p:nvSpPr>
          <p:cNvPr id="12" name="text-137">
            <a:extLst xmlns:a="http://schemas.openxmlformats.org/drawingml/2006/main">
              <a:ext uri="{FF2B5EF4-FFF2-40B4-BE49-F238E27FC236}">
                <a16:creationId xmlns:a16="http://schemas.microsoft.com/office/drawing/2014/main" id="{2B065835-CD64-464B-A4DB-37AB1A05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562350"/>
            <a:ext cx="8420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자연어 질의·추세·원인·이동·역량 분석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FF3AA9-9A77-4EB5-BB62-4A6EC9E1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</a:ln>
        </p:spPr>
      </p:sp>
      <p:sp>
        <p:nvSpPr>
          <p:cNvPr id="14" name="text-138">
            <a:extLst xmlns:a="http://schemas.openxmlformats.org/drawingml/2006/main">
              <a:ext uri="{FF2B5EF4-FFF2-40B4-BE49-F238E27FC236}">
                <a16:creationId xmlns:a16="http://schemas.microsoft.com/office/drawing/2014/main" id="{81F2A0B8-CDB3-45C6-A562-FA54675C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4340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4  미래 계획</a:t>
            </a:r>
          </a:p>
        </p:txBody>
      </p:sp>
      <p:sp>
        <p:nvSpPr>
          <p:cNvPr id="15" name="text-139">
            <a:extLst xmlns:a="http://schemas.openxmlformats.org/drawingml/2006/main">
              <a:ext uri="{FF2B5EF4-FFF2-40B4-BE49-F238E27FC236}">
                <a16:creationId xmlns:a16="http://schemas.microsoft.com/office/drawing/2014/main" id="{7ED5361A-174C-4ED7-922C-01A1863B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343400"/>
            <a:ext cx="8420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사업계획·역량 수요·인력 수급 예측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439FC5-0F92-4993-AB7F-F888D044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</a:ln>
        </p:spPr>
      </p:sp>
      <p:sp>
        <p:nvSpPr>
          <p:cNvPr id="17" name="text-140">
            <a:extLst xmlns:a="http://schemas.openxmlformats.org/drawingml/2006/main">
              <a:ext uri="{FF2B5EF4-FFF2-40B4-BE49-F238E27FC236}">
                <a16:creationId xmlns:a16="http://schemas.microsoft.com/office/drawing/2014/main" id="{255809DE-3146-4091-ADE3-569706A2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2445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5  최적화</a:t>
            </a:r>
          </a:p>
        </p:txBody>
      </p:sp>
      <p:sp>
        <p:nvSpPr>
          <p:cNvPr id="18" name="text-141">
            <a:extLst xmlns:a="http://schemas.openxmlformats.org/drawingml/2006/main">
              <a:ext uri="{FF2B5EF4-FFF2-40B4-BE49-F238E27FC236}">
                <a16:creationId xmlns:a16="http://schemas.microsoft.com/office/drawing/2014/main" id="{C0372516-2F26-4E58-AA37-FCC7FFD1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124450"/>
            <a:ext cx="8420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시나리오 비교·역량 매칭·재배치 대안 제시</a:t>
            </a:r>
          </a:p>
        </p:txBody>
      </p:sp>
      <p:sp>
        <p:nvSpPr>
          <p:cNvPr id="19" name="text-142">
            <a:extLst xmlns:a="http://schemas.openxmlformats.org/drawingml/2006/main">
              <a:ext uri="{FF2B5EF4-FFF2-40B4-BE49-F238E27FC236}">
                <a16:creationId xmlns:a16="http://schemas.microsoft.com/office/drawing/2014/main" id="{FBAFB1AC-D714-4FAB-A86F-73DE3817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34050"/>
            <a:ext cx="1139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64C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764C0"/>
                </a:solidFill>
                <a:latin typeface="Apple SD Gothic Neo"/>
                <a:ea typeface="Apple SD Gothic Neo"/>
                <a:cs typeface="Apple SD Gothic Neo"/>
              </a:rPr>
              <a:t>MVP 권장: 6개 핵심 데이터 + 시점 이력 / 일정은 연계 가능성과 품질 확인 후 확정</a:t>
            </a:r>
          </a:p>
        </p:txBody>
      </p:sp>
    </p:spTree>
    <p:extLst>
      <p:ext uri="{BB962C8B-B14F-4D97-AF65-F5344CB8AC3E}">
        <p14:creationId xmlns:p14="http://schemas.microsoft.com/office/powerpoint/2010/main" val="19440794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143">
            <a:extLst xmlns:a="http://schemas.openxmlformats.org/drawingml/2006/main">
              <a:ext uri="{FF2B5EF4-FFF2-40B4-BE49-F238E27FC236}">
                <a16:creationId xmlns:a16="http://schemas.microsoft.com/office/drawing/2014/main" id="{D50399C0-F946-42D5-A5CB-7AD48DF0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착수 범위와 성공 기준을 먼저 확정합니다</a:t>
            </a:r>
          </a:p>
        </p:txBody>
      </p:sp>
      <p:sp>
        <p:nvSpPr>
          <p:cNvPr id="2" name="text-144">
            <a:extLst xmlns:a="http://schemas.openxmlformats.org/drawingml/2006/main">
              <a:ext uri="{FF2B5EF4-FFF2-40B4-BE49-F238E27FC236}">
                <a16:creationId xmlns:a16="http://schemas.microsoft.com/office/drawing/2014/main" id="{A35326B1-DBA3-4BA3-87FA-2B3F66F1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15075"/>
            <a:ext cx="1047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13  리더 검토 사항</a:t>
            </a:r>
          </a:p>
        </p:txBody>
      </p:sp>
      <p:sp>
        <p:nvSpPr>
          <p:cNvPr id="3" name="text-145">
            <a:extLst xmlns:a="http://schemas.openxmlformats.org/drawingml/2006/main">
              <a:ext uri="{FF2B5EF4-FFF2-40B4-BE49-F238E27FC236}">
                <a16:creationId xmlns:a16="http://schemas.microsoft.com/office/drawing/2014/main" id="{AD35B1C7-9FC8-4D6E-A127-C1A639BD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4" name="text-146">
            <a:extLst xmlns:a="http://schemas.openxmlformats.org/drawingml/2006/main">
              <a:ext uri="{FF2B5EF4-FFF2-40B4-BE49-F238E27FC236}">
                <a16:creationId xmlns:a16="http://schemas.microsoft.com/office/drawing/2014/main" id="{3C74E8A8-A2F9-4E46-B9BF-AB54B7C2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요청: MVP 상세 설계 착수  ·  범위·데이터 품질 확인 후 일정과 예산 산정</a:t>
            </a:r>
          </a:p>
        </p:txBody>
      </p:sp>
      <p:sp>
        <p:nvSpPr>
          <p:cNvPr id="5" name="text-147">
            <a:extLst xmlns:a="http://schemas.openxmlformats.org/drawingml/2006/main">
              <a:ext uri="{FF2B5EF4-FFF2-40B4-BE49-F238E27FC236}">
                <a16:creationId xmlns:a16="http://schemas.microsoft.com/office/drawing/2014/main" id="{DE8A93D3-7F0D-4F21-B3E7-080C7E6D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9087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우선 의사결정</a:t>
            </a:r>
          </a:p>
        </p:txBody>
      </p:sp>
      <p:sp>
        <p:nvSpPr>
          <p:cNvPr id="6" name="text-148">
            <a:extLst xmlns:a="http://schemas.openxmlformats.org/drawingml/2006/main">
              <a:ext uri="{FF2B5EF4-FFF2-40B4-BE49-F238E27FC236}">
                <a16:creationId xmlns:a16="http://schemas.microsoft.com/office/drawing/2014/main" id="{EAE79601-28EF-450F-B5E0-3351ADF3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35623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시범 조직·과제를 선정하고</a:t>
            </a:r>
          </a:p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인력배치·충원·재배치 중</a:t>
            </a:r>
          </a:p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우선 검증 질문을 확정</a:t>
            </a:r>
          </a:p>
        </p:txBody>
      </p:sp>
      <p:sp>
        <p:nvSpPr>
          <p:cNvPr id="7" name="text-149">
            <a:extLst xmlns:a="http://schemas.openxmlformats.org/drawingml/2006/main">
              <a:ext uri="{FF2B5EF4-FFF2-40B4-BE49-F238E27FC236}">
                <a16:creationId xmlns:a16="http://schemas.microsoft.com/office/drawing/2014/main" id="{D9A78F5D-74E0-4046-967F-47834039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9087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데이터와 책임</a:t>
            </a:r>
          </a:p>
        </p:txBody>
      </p:sp>
      <p:sp>
        <p:nvSpPr>
          <p:cNvPr id="8" name="text-150">
            <a:extLst xmlns:a="http://schemas.openxmlformats.org/drawingml/2006/main">
              <a:ext uri="{FF2B5EF4-FFF2-40B4-BE49-F238E27FC236}">
                <a16:creationId xmlns:a16="http://schemas.microsoft.com/office/drawing/2014/main" id="{18C1218A-A590-4C21-A6EE-2DCD0736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829050"/>
            <a:ext cx="35623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HR·사업부·PM·IT의</a:t>
            </a:r>
          </a:p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역할과 데이터 접근 범위,</a:t>
            </a:r>
          </a:p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Man month 산정 기준 합의</a:t>
            </a:r>
          </a:p>
        </p:txBody>
      </p:sp>
      <p:sp>
        <p:nvSpPr>
          <p:cNvPr id="9" name="text-151">
            <a:extLst xmlns:a="http://schemas.openxmlformats.org/drawingml/2006/main">
              <a:ext uri="{FF2B5EF4-FFF2-40B4-BE49-F238E27FC236}">
                <a16:creationId xmlns:a16="http://schemas.microsoft.com/office/drawing/2014/main" id="{DDE69FD5-6A13-4A92-8D7E-8DC0476A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9087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41414"/>
                </a:solidFill>
                <a:latin typeface="Apple SD Gothic Neo"/>
                <a:ea typeface="Apple SD Gothic Neo"/>
                <a:cs typeface="Apple SD Gothic Neo"/>
              </a:rPr>
              <a:t>MVP 검증 기준</a:t>
            </a:r>
          </a:p>
        </p:txBody>
      </p:sp>
      <p:sp>
        <p:nvSpPr>
          <p:cNvPr id="10" name="text-152">
            <a:extLst xmlns:a="http://schemas.openxmlformats.org/drawingml/2006/main">
              <a:ext uri="{FF2B5EF4-FFF2-40B4-BE49-F238E27FC236}">
                <a16:creationId xmlns:a16="http://schemas.microsoft.com/office/drawing/2014/main" id="{1AF4E26B-83DB-4C68-BF2D-48D438A4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29050"/>
            <a:ext cx="35623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집계 일치도·조회 소요시간·</a:t>
            </a:r>
          </a:p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투입계획 충실도·추천 검토율로</a:t>
            </a:r>
          </a:p>
          <a:p xmlns:a="http://schemas.openxmlformats.org/drawingml/2006/main">
            <a:pPr>
              <a:def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B64"/>
                </a:solidFill>
                <a:latin typeface="Apple SD Gothic Neo"/>
                <a:ea typeface="Apple SD Gothic Neo"/>
                <a:cs typeface="Apple SD Gothic Neo"/>
              </a:rPr>
              <a:t>확장 여부 판단</a:t>
            </a:r>
          </a:p>
        </p:txBody>
      </p:sp>
    </p:spTree>
    <p:extLst>
      <p:ext uri="{BB962C8B-B14F-4D97-AF65-F5344CB8AC3E}">
        <p14:creationId xmlns:p14="http://schemas.microsoft.com/office/powerpoint/2010/main" val="14199706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2026-09-21T13:01:42.6930000Z</dcterms:created>
  <dcterms:modified xsi:type="dcterms:W3CDTF">2026-09-21T13:01:42.6930000Z</dcterms:modified>
</coreProperties>
</file>